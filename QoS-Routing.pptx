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6" r:id="rId8"/>
    <p:sldId id="262" r:id="rId9"/>
    <p:sldId id="263" r:id="rId10"/>
    <p:sldId id="264" r:id="rId11"/>
    <p:sldId id="265" r:id="rId12"/>
  </p:sldIdLst>
  <p:sldSz cx="14630400" cy="8229600"/>
  <p:notesSz cx="8229600" cy="14630400"/>
  <p:embeddedFontLst>
    <p:embeddedFont>
      <p:font typeface="Lora" pitchFamily="2" charset="0"/>
      <p:regular r:id="rId14"/>
    </p:embeddedFont>
    <p:embeddedFont>
      <p:font typeface="Sitka Small Semibold" pitchFamily="2" charset="0"/>
      <p:bold r:id="rId15"/>
      <p:boldItalic r:id="rId16"/>
    </p:embeddedFont>
    <p:embeddedFont>
      <p:font typeface="Source Sans 3"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5" d="100"/>
          <a:sy n="65" d="100"/>
        </p:scale>
        <p:origin x="8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024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2A17C-8D2F-66B7-2815-C6DC16051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D0D21-EB7D-8C76-9AD6-8601D2A03B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CA3C4B-AC43-5323-2F45-DFF2E0782B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F61DAB-A947-8554-4949-DEC5A56A54F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12466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a:p>
        </p:txBody>
      </p:sp>
      <p:sp>
        <p:nvSpPr>
          <p:cNvPr id="3" name="Shape 1"/>
          <p:cNvSpPr/>
          <p:nvPr/>
        </p:nvSpPr>
        <p:spPr>
          <a:xfrm>
            <a:off x="0" y="0"/>
            <a:ext cx="14630400" cy="8229600"/>
          </a:xfrm>
          <a:prstGeom prst="rect">
            <a:avLst/>
          </a:prstGeom>
          <a:solidFill>
            <a:srgbClr val="FEF5E7"/>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90002" y="812602"/>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Federated Machine Learning–Driven Anomaly-Aware QoS Routing for 5G Networks</a:t>
            </a:r>
          </a:p>
          <a:p>
            <a:pPr marL="0" indent="0" algn="l">
              <a:lnSpc>
                <a:spcPts val="5500"/>
              </a:lnSpc>
              <a:buNone/>
            </a:pPr>
            <a:endParaRPr lang="en-US" sz="4400" dirty="0">
              <a:solidFill>
                <a:srgbClr val="38512F"/>
              </a:solidFill>
              <a:latin typeface="Lora" pitchFamily="34" charset="0"/>
              <a:ea typeface="Lora" pitchFamily="34" charset="-122"/>
              <a:cs typeface="Lora" pitchFamily="34" charset="-120"/>
            </a:endParaRPr>
          </a:p>
          <a:p>
            <a:pPr marL="0" indent="0" algn="l">
              <a:lnSpc>
                <a:spcPts val="5500"/>
              </a:lnSpc>
              <a:buNone/>
            </a:pPr>
            <a:endParaRPr lang="en-US" sz="4400" dirty="0">
              <a:solidFill>
                <a:srgbClr val="38512F"/>
              </a:solidFill>
              <a:latin typeface="Lora" pitchFamily="34" charset="0"/>
              <a:ea typeface="Lora" pitchFamily="34" charset="-122"/>
              <a:cs typeface="Lora" pitchFamily="34" charset="-120"/>
            </a:endParaRPr>
          </a:p>
          <a:p>
            <a:pPr marL="0" indent="0" algn="l">
              <a:lnSpc>
                <a:spcPts val="5500"/>
              </a:lnSpc>
              <a:buNone/>
            </a:pPr>
            <a:endParaRPr lang="en-US" sz="4400" dirty="0">
              <a:solidFill>
                <a:srgbClr val="38512F"/>
              </a:solidFill>
              <a:latin typeface="Lora" pitchFamily="34" charset="0"/>
              <a:ea typeface="Lora" pitchFamily="34" charset="-122"/>
              <a:cs typeface="Lora" pitchFamily="34" charset="-120"/>
            </a:endParaRPr>
          </a:p>
          <a:p>
            <a:pPr marL="0" indent="0" algn="l">
              <a:lnSpc>
                <a:spcPts val="5500"/>
              </a:lnSpc>
              <a:buNone/>
            </a:pPr>
            <a:endParaRPr lang="en-US" sz="4400" dirty="0"/>
          </a:p>
        </p:txBody>
      </p:sp>
      <p:sp>
        <p:nvSpPr>
          <p:cNvPr id="3" name="Text 1"/>
          <p:cNvSpPr/>
          <p:nvPr/>
        </p:nvSpPr>
        <p:spPr>
          <a:xfrm>
            <a:off x="6722707" y="4319499"/>
            <a:ext cx="2816185" cy="351949"/>
          </a:xfrm>
          <a:prstGeom prst="rect">
            <a:avLst/>
          </a:prstGeom>
          <a:noFill/>
          <a:ln/>
        </p:spPr>
        <p:txBody>
          <a:bodyPr wrap="none" lIns="0" tIns="0" rIns="0" bIns="0" rtlCol="0" anchor="t"/>
          <a:lstStyle/>
          <a:p>
            <a:pPr marL="0" indent="0" algn="l">
              <a:lnSpc>
                <a:spcPts val="2750"/>
              </a:lnSpc>
              <a:buNone/>
            </a:pPr>
            <a:br>
              <a:rPr lang="en-US" sz="2200" b="1" dirty="0">
                <a:solidFill>
                  <a:srgbClr val="38512F"/>
                </a:solidFill>
                <a:latin typeface="Lora" pitchFamily="34" charset="0"/>
                <a:ea typeface="Lora" pitchFamily="34" charset="-122"/>
                <a:cs typeface="Lora" pitchFamily="34" charset="-120"/>
              </a:rPr>
            </a:br>
            <a:r>
              <a:rPr lang="en-US" sz="2200" b="1" dirty="0">
                <a:solidFill>
                  <a:schemeClr val="tx1">
                    <a:lumMod val="65000"/>
                    <a:lumOff val="35000"/>
                  </a:schemeClr>
                </a:solidFill>
                <a:latin typeface="Times New Roman" panose="02020603050405020304" pitchFamily="18" charset="0"/>
                <a:ea typeface="Lora" pitchFamily="34" charset="-122"/>
                <a:cs typeface="Times New Roman" panose="02020603050405020304" pitchFamily="18" charset="0"/>
              </a:rPr>
              <a:t>SARVESH R R</a:t>
            </a:r>
          </a:p>
          <a:p>
            <a:pPr marL="0" indent="0" algn="l">
              <a:lnSpc>
                <a:spcPts val="2750"/>
              </a:lnSpc>
              <a:buNone/>
            </a:pP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2000" b="1" dirty="0">
                <a:solidFill>
                  <a:schemeClr val="tx1">
                    <a:lumMod val="65000"/>
                    <a:lumOff val="35000"/>
                  </a:schemeClr>
                </a:solidFill>
                <a:cs typeface="Times New Roman" panose="02020603050405020304" pitchFamily="18" charset="0"/>
              </a:rPr>
              <a:t>22BEC1506</a:t>
            </a:r>
            <a:endParaRPr lang="en-US" sz="2000" dirty="0">
              <a:solidFill>
                <a:schemeClr val="tx1">
                  <a:lumMod val="65000"/>
                  <a:lumOff val="35000"/>
                </a:schemeClr>
              </a:solidFill>
              <a:cs typeface="Times New Roman" panose="02020603050405020304" pitchFamily="18" charset="0"/>
            </a:endParaRPr>
          </a:p>
        </p:txBody>
      </p:sp>
      <p:sp>
        <p:nvSpPr>
          <p:cNvPr id="4" name="Text 2"/>
          <p:cNvSpPr/>
          <p:nvPr/>
        </p:nvSpPr>
        <p:spPr>
          <a:xfrm>
            <a:off x="837724" y="4052292"/>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5" name="Text 3"/>
          <p:cNvSpPr/>
          <p:nvPr/>
        </p:nvSpPr>
        <p:spPr>
          <a:xfrm>
            <a:off x="837724" y="4704517"/>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6" name="Text 4"/>
          <p:cNvSpPr/>
          <p:nvPr/>
        </p:nvSpPr>
        <p:spPr>
          <a:xfrm>
            <a:off x="4542217" y="3302857"/>
            <a:ext cx="12954952" cy="383024"/>
          </a:xfrm>
          <a:prstGeom prst="rect">
            <a:avLst/>
          </a:prstGeom>
          <a:noFill/>
          <a:ln/>
        </p:spPr>
        <p:txBody>
          <a:bodyPr wrap="none" lIns="0" tIns="0" rIns="0" bIns="0" rtlCol="0" anchor="t"/>
          <a:lstStyle/>
          <a:p>
            <a:pPr marL="0" indent="0" algn="l">
              <a:lnSpc>
                <a:spcPts val="3000"/>
              </a:lnSpc>
              <a:buNone/>
            </a:pPr>
            <a:r>
              <a:rPr lang="en-US" sz="2800" b="1" dirty="0">
                <a:solidFill>
                  <a:schemeClr val="tx1">
                    <a:lumMod val="65000"/>
                    <a:lumOff val="35000"/>
                  </a:schemeClr>
                </a:solidFill>
                <a:latin typeface="Sitka Small Semibold" pitchFamily="2" charset="0"/>
                <a:ea typeface="Source Sans 3" pitchFamily="34" charset="-122"/>
                <a:cs typeface="Source Sans 3" pitchFamily="34" charset="-120"/>
              </a:rPr>
              <a:t>GUIDE’S NAME :</a:t>
            </a:r>
            <a:r>
              <a:rPr lang="en-US" sz="2800" dirty="0">
                <a:solidFill>
                  <a:schemeClr val="tx1">
                    <a:lumMod val="65000"/>
                    <a:lumOff val="35000"/>
                  </a:schemeClr>
                </a:solidFill>
                <a:latin typeface="Sitka Small Semibold" pitchFamily="2" charset="0"/>
                <a:ea typeface="Source Sans 3" pitchFamily="34" charset="-122"/>
                <a:cs typeface="Source Sans 3" pitchFamily="34" charset="-120"/>
              </a:rPr>
              <a:t> Dr. SUDHAKARAN G</a:t>
            </a:r>
            <a:endParaRPr lang="en-US" sz="2800" dirty="0">
              <a:solidFill>
                <a:schemeClr val="tx1">
                  <a:lumMod val="65000"/>
                  <a:lumOff val="35000"/>
                </a:schemeClr>
              </a:solidFill>
              <a:latin typeface="Sitka Small Semibold" pitchFamily="2" charset="0"/>
            </a:endParaRPr>
          </a:p>
        </p:txBody>
      </p:sp>
      <p:sp>
        <p:nvSpPr>
          <p:cNvPr id="7" name="Text 5"/>
          <p:cNvSpPr/>
          <p:nvPr/>
        </p:nvSpPr>
        <p:spPr>
          <a:xfrm>
            <a:off x="837724" y="6008965"/>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8" name="TextBox 7">
            <a:extLst>
              <a:ext uri="{FF2B5EF4-FFF2-40B4-BE49-F238E27FC236}">
                <a16:creationId xmlns:a16="http://schemas.microsoft.com/office/drawing/2014/main" id="{F3A5A761-CE10-DDA6-38D1-9C9FC27DCFF8}"/>
              </a:ext>
            </a:extLst>
          </p:cNvPr>
          <p:cNvSpPr txBox="1"/>
          <p:nvPr/>
        </p:nvSpPr>
        <p:spPr>
          <a:xfrm>
            <a:off x="1899138" y="4618670"/>
            <a:ext cx="3997569" cy="830997"/>
          </a:xfrm>
          <a:prstGeom prst="rect">
            <a:avLst/>
          </a:prstGeom>
          <a:noFill/>
        </p:spPr>
        <p:txBody>
          <a:bodyPr wrap="square" rtlCol="0">
            <a:spAutoFit/>
          </a:bodyPr>
          <a:lstStyle/>
          <a:p>
            <a:r>
              <a:rPr lang="en-US" sz="2200" b="1" dirty="0">
                <a:solidFill>
                  <a:schemeClr val="tx1">
                    <a:lumMod val="65000"/>
                    <a:lumOff val="35000"/>
                  </a:schemeClr>
                </a:solidFill>
                <a:latin typeface="Times New Roman" panose="02020603050405020304" pitchFamily="18" charset="0"/>
                <a:cs typeface="Times New Roman" panose="02020603050405020304" pitchFamily="18" charset="0"/>
              </a:rPr>
              <a:t>SREE SAYEE KRUSHNAN</a:t>
            </a:r>
            <a:br>
              <a:rPr lang="en-US" sz="2400" b="1" dirty="0">
                <a:solidFill>
                  <a:schemeClr val="tx1">
                    <a:lumMod val="65000"/>
                    <a:lumOff val="35000"/>
                  </a:schemeClr>
                </a:solidFill>
                <a:latin typeface="Times New Roman" panose="02020603050405020304" pitchFamily="18" charset="0"/>
                <a:cs typeface="Times New Roman" panose="02020603050405020304" pitchFamily="18" charset="0"/>
              </a:rPr>
            </a:br>
            <a:r>
              <a:rPr lang="en-US" sz="2400" b="1"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2000" b="1" dirty="0">
                <a:solidFill>
                  <a:schemeClr val="tx1">
                    <a:lumMod val="65000"/>
                    <a:lumOff val="35000"/>
                  </a:schemeClr>
                </a:solidFill>
                <a:cs typeface="Times New Roman" panose="02020603050405020304" pitchFamily="18" charset="0"/>
              </a:rPr>
              <a:t>22BEC1479</a:t>
            </a:r>
          </a:p>
        </p:txBody>
      </p:sp>
      <p:sp>
        <p:nvSpPr>
          <p:cNvPr id="9" name="TextBox 8">
            <a:extLst>
              <a:ext uri="{FF2B5EF4-FFF2-40B4-BE49-F238E27FC236}">
                <a16:creationId xmlns:a16="http://schemas.microsoft.com/office/drawing/2014/main" id="{BA76AB5C-BAAD-08A6-159A-A717F36F664D}"/>
              </a:ext>
            </a:extLst>
          </p:cNvPr>
          <p:cNvSpPr txBox="1"/>
          <p:nvPr/>
        </p:nvSpPr>
        <p:spPr>
          <a:xfrm>
            <a:off x="10468708" y="4671448"/>
            <a:ext cx="3153508" cy="769441"/>
          </a:xfrm>
          <a:prstGeom prst="rect">
            <a:avLst/>
          </a:prstGeom>
          <a:noFill/>
        </p:spPr>
        <p:txBody>
          <a:bodyPr wrap="square" rtlCol="0">
            <a:spAutoFit/>
          </a:bodyPr>
          <a:lstStyle/>
          <a:p>
            <a:r>
              <a:rPr lang="en-US" sz="2400" b="1" dirty="0">
                <a:solidFill>
                  <a:schemeClr val="tx1">
                    <a:lumMod val="65000"/>
                    <a:lumOff val="35000"/>
                  </a:schemeClr>
                </a:solidFill>
              </a:rPr>
              <a:t>JAI PRAGDISH</a:t>
            </a:r>
          </a:p>
          <a:p>
            <a:r>
              <a:rPr lang="en-US" b="1" dirty="0">
                <a:solidFill>
                  <a:schemeClr val="tx1">
                    <a:lumMod val="65000"/>
                    <a:lumOff val="35000"/>
                  </a:schemeClr>
                </a:solidFill>
              </a:rPr>
              <a:t>      </a:t>
            </a:r>
            <a:r>
              <a:rPr lang="en-US" sz="2000" b="1" dirty="0">
                <a:solidFill>
                  <a:schemeClr val="tx1">
                    <a:lumMod val="65000"/>
                    <a:lumOff val="35000"/>
                  </a:schemeClr>
                </a:solidFill>
              </a:rPr>
              <a:t>22BLC1119</a:t>
            </a:r>
          </a:p>
        </p:txBody>
      </p:sp>
      <p:pic>
        <p:nvPicPr>
          <p:cNvPr id="11" name="Picture 10">
            <a:extLst>
              <a:ext uri="{FF2B5EF4-FFF2-40B4-BE49-F238E27FC236}">
                <a16:creationId xmlns:a16="http://schemas.microsoft.com/office/drawing/2014/main" id="{C6716DEC-D70A-4FD6-B6E6-D212974D8E24}"/>
              </a:ext>
            </a:extLst>
          </p:cNvPr>
          <p:cNvPicPr>
            <a:picLocks noChangeAspect="1"/>
          </p:cNvPicPr>
          <p:nvPr/>
        </p:nvPicPr>
        <p:blipFill>
          <a:blip r:embed="rId3"/>
          <a:stretch>
            <a:fillRect/>
          </a:stretch>
        </p:blipFill>
        <p:spPr>
          <a:xfrm>
            <a:off x="12829924" y="7753284"/>
            <a:ext cx="1800476" cy="476316"/>
          </a:xfrm>
          <a:prstGeom prst="rect">
            <a:avLst/>
          </a:prstGeom>
        </p:spPr>
      </p:pic>
      <p:sp>
        <p:nvSpPr>
          <p:cNvPr id="10" name="TextBox 9">
            <a:extLst>
              <a:ext uri="{FF2B5EF4-FFF2-40B4-BE49-F238E27FC236}">
                <a16:creationId xmlns:a16="http://schemas.microsoft.com/office/drawing/2014/main" id="{564D17E8-5123-4755-0AC8-52C43A9CFAF4}"/>
              </a:ext>
            </a:extLst>
          </p:cNvPr>
          <p:cNvSpPr txBox="1"/>
          <p:nvPr/>
        </p:nvSpPr>
        <p:spPr>
          <a:xfrm>
            <a:off x="10257692" y="7113358"/>
            <a:ext cx="4484553" cy="400110"/>
          </a:xfrm>
          <a:prstGeom prst="rect">
            <a:avLst/>
          </a:prstGeom>
          <a:noFill/>
        </p:spPr>
        <p:txBody>
          <a:bodyPr wrap="square" rtlCol="0">
            <a:spAutoFit/>
          </a:bodyPr>
          <a:lstStyle/>
          <a:p>
            <a:r>
              <a:rPr lang="en-US" sz="2000" b="1" dirty="0">
                <a:solidFill>
                  <a:schemeClr val="tx1">
                    <a:lumMod val="65000"/>
                    <a:lumOff val="35000"/>
                  </a:schemeClr>
                </a:solidFill>
              </a:rPr>
              <a:t>GUIDE’S SIGNATURE</a:t>
            </a:r>
          </a:p>
        </p:txBody>
      </p:sp>
      <p:sp>
        <p:nvSpPr>
          <p:cNvPr id="12" name="Rectangle 11">
            <a:extLst>
              <a:ext uri="{FF2B5EF4-FFF2-40B4-BE49-F238E27FC236}">
                <a16:creationId xmlns:a16="http://schemas.microsoft.com/office/drawing/2014/main" id="{6B3723BA-8B7F-8E17-D0F2-4CF51999FAAE}"/>
              </a:ext>
            </a:extLst>
          </p:cNvPr>
          <p:cNvSpPr/>
          <p:nvPr/>
        </p:nvSpPr>
        <p:spPr>
          <a:xfrm>
            <a:off x="9730154" y="6391989"/>
            <a:ext cx="3305908" cy="5836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6C69FEB6-DA91-A0BD-D8CB-9C3CE31D78D1}"/>
              </a:ext>
            </a:extLst>
          </p:cNvPr>
          <p:cNvPicPr>
            <a:picLocks noChangeAspect="1"/>
          </p:cNvPicPr>
          <p:nvPr/>
        </p:nvPicPr>
        <p:blipFill>
          <a:blip r:embed="rId4"/>
          <a:srcRect l="1282" r="2323"/>
          <a:stretch>
            <a:fillRect/>
          </a:stretch>
        </p:blipFill>
        <p:spPr>
          <a:xfrm>
            <a:off x="0" y="0"/>
            <a:ext cx="14630399"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837724" y="1157168"/>
            <a:ext cx="2072521" cy="449818"/>
          </a:xfrm>
          <a:prstGeom prst="roundRect">
            <a:avLst>
              <a:gd name="adj" fmla="val 6386"/>
            </a:avLst>
          </a:prstGeom>
          <a:solidFill>
            <a:srgbClr val="E2ECDF"/>
          </a:solidFill>
          <a:ln/>
        </p:spPr>
        <p:txBody>
          <a:bodyPr/>
          <a:lstStyle/>
          <a:p>
            <a:endParaRPr lang="en-US"/>
          </a:p>
        </p:txBody>
      </p:sp>
      <p:sp>
        <p:nvSpPr>
          <p:cNvPr id="3" name="Text 1"/>
          <p:cNvSpPr/>
          <p:nvPr/>
        </p:nvSpPr>
        <p:spPr>
          <a:xfrm>
            <a:off x="981313" y="1228963"/>
            <a:ext cx="1785342" cy="306229"/>
          </a:xfrm>
          <a:prstGeom prst="rect">
            <a:avLst/>
          </a:prstGeom>
          <a:noFill/>
          <a:ln/>
        </p:spPr>
        <p:txBody>
          <a:bodyPr wrap="non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PROBLEM STATEMENT</a:t>
            </a:r>
            <a:endParaRPr lang="en-US" sz="1500" dirty="0"/>
          </a:p>
        </p:txBody>
      </p:sp>
      <p:sp>
        <p:nvSpPr>
          <p:cNvPr id="4" name="Text 2"/>
          <p:cNvSpPr/>
          <p:nvPr/>
        </p:nvSpPr>
        <p:spPr>
          <a:xfrm>
            <a:off x="837724" y="1702713"/>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Addressing Critical QoS Degradation in 5G Networks</a:t>
            </a:r>
            <a:endParaRPr lang="en-US" sz="4400" dirty="0"/>
          </a:p>
        </p:txBody>
      </p:sp>
      <p:sp>
        <p:nvSpPr>
          <p:cNvPr id="5" name="Text 3"/>
          <p:cNvSpPr/>
          <p:nvPr/>
        </p:nvSpPr>
        <p:spPr>
          <a:xfrm>
            <a:off x="837724" y="3469719"/>
            <a:ext cx="12954952"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Modern 5G networks are designed to support a diverse array of applications, from high-definition video streaming and critical emergency services to interactive gaming and massive IoT deployments. Each of these applications comes with distinct and stringent Quality of Service (QoS) requirements.</a:t>
            </a:r>
            <a:endParaRPr lang="en-US" sz="1850" dirty="0"/>
          </a:p>
        </p:txBody>
      </p:sp>
      <p:sp>
        <p:nvSpPr>
          <p:cNvPr id="6" name="Text 4"/>
          <p:cNvSpPr/>
          <p:nvPr/>
        </p:nvSpPr>
        <p:spPr>
          <a:xfrm>
            <a:off x="837724" y="4887992"/>
            <a:ext cx="12954952"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However, current QoS routing mechanisms often fall short. They primarily rely on standard performance metrics like latency, throughput, and network load, neglecting the crucial aspect of abnormal traffic behaviour. Such anomalies, including sudden traffic bursts, faulty IoT floods, or deceptive priority traffic, can severely compromise the QoS of vital services.</a:t>
            </a:r>
            <a:endParaRPr lang="en-US" sz="1850" dirty="0"/>
          </a:p>
        </p:txBody>
      </p:sp>
      <p:sp>
        <p:nvSpPr>
          <p:cNvPr id="7" name="Text 5"/>
          <p:cNvSpPr/>
          <p:nvPr/>
        </p:nvSpPr>
        <p:spPr>
          <a:xfrm>
            <a:off x="837724" y="6306264"/>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highlight>
                  <a:srgbClr val="FFFFFF"/>
                </a:highlight>
                <a:latin typeface="Source Sans 3" pitchFamily="34" charset="0"/>
                <a:ea typeface="Source Sans 3" pitchFamily="34" charset="-122"/>
                <a:cs typeface="Source Sans 3" pitchFamily="34" charset="-120"/>
              </a:rPr>
              <a:t>Hence, there is a pressing need for an intelligent QoS routing mechanism capable of dynamically adapting routing decisions based on real-time traffic behaviour analysis.</a:t>
            </a:r>
            <a:endParaRPr lang="en-US" sz="1850" dirty="0"/>
          </a:p>
        </p:txBody>
      </p:sp>
      <p:pic>
        <p:nvPicPr>
          <p:cNvPr id="9" name="Picture 8">
            <a:extLst>
              <a:ext uri="{FF2B5EF4-FFF2-40B4-BE49-F238E27FC236}">
                <a16:creationId xmlns:a16="http://schemas.microsoft.com/office/drawing/2014/main" id="{47163FBD-3474-96AA-909F-1EC8288F4E02}"/>
              </a:ext>
            </a:extLst>
          </p:cNvPr>
          <p:cNvPicPr>
            <a:picLocks noChangeAspect="1"/>
          </p:cNvPicPr>
          <p:nvPr/>
        </p:nvPicPr>
        <p:blipFill>
          <a:blip r:embed="rId3"/>
          <a:stretch>
            <a:fillRect/>
          </a:stretch>
        </p:blipFill>
        <p:spPr>
          <a:xfrm>
            <a:off x="12829924" y="7651472"/>
            <a:ext cx="1800476" cy="4763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25579" y="822960"/>
            <a:ext cx="2232065" cy="443389"/>
          </a:xfrm>
          <a:prstGeom prst="roundRect">
            <a:avLst>
              <a:gd name="adj" fmla="val 6384"/>
            </a:avLst>
          </a:prstGeom>
          <a:solidFill>
            <a:srgbClr val="E2ECDF"/>
          </a:solidFill>
          <a:ln/>
        </p:spPr>
        <p:txBody>
          <a:bodyPr/>
          <a:lstStyle/>
          <a:p>
            <a:endParaRPr lang="en-US"/>
          </a:p>
        </p:txBody>
      </p:sp>
      <p:sp>
        <p:nvSpPr>
          <p:cNvPr id="3" name="Text 1"/>
          <p:cNvSpPr/>
          <p:nvPr/>
        </p:nvSpPr>
        <p:spPr>
          <a:xfrm>
            <a:off x="967026" y="893683"/>
            <a:ext cx="1949172" cy="301943"/>
          </a:xfrm>
          <a:prstGeom prst="rect">
            <a:avLst/>
          </a:prstGeom>
          <a:noFill/>
          <a:ln/>
        </p:spPr>
        <p:txBody>
          <a:bodyPr wrap="none" lIns="0" tIns="0" rIns="0" bIns="0" rtlCol="0" anchor="t"/>
          <a:lstStyle/>
          <a:p>
            <a:pPr marL="0" indent="0" algn="l">
              <a:lnSpc>
                <a:spcPts val="2350"/>
              </a:lnSpc>
              <a:buNone/>
            </a:pPr>
            <a:r>
              <a:rPr lang="en-US" sz="1450" dirty="0">
                <a:solidFill>
                  <a:srgbClr val="3A3630"/>
                </a:solidFill>
                <a:latin typeface="Source Sans 3" pitchFamily="34" charset="0"/>
                <a:ea typeface="Source Sans 3" pitchFamily="34" charset="-122"/>
                <a:cs typeface="Source Sans 3" pitchFamily="34" charset="-120"/>
              </a:rPr>
              <a:t>PROBLEM BACKGROUND</a:t>
            </a:r>
            <a:endParaRPr lang="en-US" sz="1450" dirty="0"/>
          </a:p>
        </p:txBody>
      </p:sp>
      <p:sp>
        <p:nvSpPr>
          <p:cNvPr id="4" name="Text 2"/>
          <p:cNvSpPr/>
          <p:nvPr/>
        </p:nvSpPr>
        <p:spPr>
          <a:xfrm>
            <a:off x="825579" y="1360646"/>
            <a:ext cx="12979241" cy="1387554"/>
          </a:xfrm>
          <a:prstGeom prst="rect">
            <a:avLst/>
          </a:prstGeom>
          <a:noFill/>
          <a:ln/>
        </p:spPr>
        <p:txBody>
          <a:bodyPr wrap="square" lIns="0" tIns="0" rIns="0" bIns="0" rtlCol="0" anchor="t"/>
          <a:lstStyle/>
          <a:p>
            <a:pPr marL="0" indent="0" algn="l">
              <a:lnSpc>
                <a:spcPts val="5450"/>
              </a:lnSpc>
              <a:buNone/>
            </a:pPr>
            <a:r>
              <a:rPr lang="en-US" sz="4350" dirty="0">
                <a:solidFill>
                  <a:srgbClr val="38512F"/>
                </a:solidFill>
                <a:latin typeface="Lora" pitchFamily="34" charset="0"/>
                <a:ea typeface="Lora" pitchFamily="34" charset="-122"/>
                <a:cs typeface="Lora" pitchFamily="34" charset="-120"/>
              </a:rPr>
              <a:t>The Dynamic and Vulnerable Landscape of 5G Networks</a:t>
            </a:r>
            <a:endParaRPr lang="en-US" sz="4350" dirty="0"/>
          </a:p>
        </p:txBody>
      </p:sp>
      <p:sp>
        <p:nvSpPr>
          <p:cNvPr id="5" name="Shape 3"/>
          <p:cNvSpPr/>
          <p:nvPr/>
        </p:nvSpPr>
        <p:spPr>
          <a:xfrm>
            <a:off x="825579" y="3101935"/>
            <a:ext cx="4169093" cy="3284815"/>
          </a:xfrm>
          <a:prstGeom prst="roundRect">
            <a:avLst>
              <a:gd name="adj" fmla="val 4454"/>
            </a:avLst>
          </a:prstGeom>
          <a:solidFill>
            <a:srgbClr val="FEF5E7"/>
          </a:solidFill>
          <a:ln w="30480">
            <a:solidFill>
              <a:srgbClr val="D9CDBA"/>
            </a:solidFill>
            <a:prstDash val="solid"/>
          </a:ln>
        </p:spPr>
        <p:txBody>
          <a:bodyPr/>
          <a:lstStyle/>
          <a:p>
            <a:endParaRPr lang="en-US"/>
          </a:p>
        </p:txBody>
      </p:sp>
      <p:sp>
        <p:nvSpPr>
          <p:cNvPr id="6" name="Shape 4"/>
          <p:cNvSpPr/>
          <p:nvPr/>
        </p:nvSpPr>
        <p:spPr>
          <a:xfrm>
            <a:off x="795099" y="3101935"/>
            <a:ext cx="121920" cy="3284815"/>
          </a:xfrm>
          <a:prstGeom prst="roundRect">
            <a:avLst>
              <a:gd name="adj" fmla="val 29021"/>
            </a:avLst>
          </a:prstGeom>
          <a:solidFill>
            <a:srgbClr val="38512F"/>
          </a:solidFill>
          <a:ln/>
        </p:spPr>
        <p:txBody>
          <a:bodyPr/>
          <a:lstStyle/>
          <a:p>
            <a:endParaRPr lang="en-US"/>
          </a:p>
        </p:txBody>
      </p:sp>
      <p:sp>
        <p:nvSpPr>
          <p:cNvPr id="7" name="Text 5"/>
          <p:cNvSpPr/>
          <p:nvPr/>
        </p:nvSpPr>
        <p:spPr>
          <a:xfrm>
            <a:off x="1183362" y="3368278"/>
            <a:ext cx="3544967" cy="693658"/>
          </a:xfrm>
          <a:prstGeom prst="rect">
            <a:avLst/>
          </a:prstGeom>
          <a:noFill/>
          <a:ln/>
        </p:spPr>
        <p:txBody>
          <a:bodyPr wrap="square" lIns="0" tIns="0" rIns="0" bIns="0" rtlCol="0" anchor="t"/>
          <a:lstStyle/>
          <a:p>
            <a:pPr marL="0" indent="0" algn="l">
              <a:lnSpc>
                <a:spcPts val="2700"/>
              </a:lnSpc>
              <a:buNone/>
            </a:pPr>
            <a:r>
              <a:rPr lang="en-US" sz="2150" dirty="0">
                <a:solidFill>
                  <a:srgbClr val="3A3630"/>
                </a:solidFill>
                <a:latin typeface="Lora" pitchFamily="34" charset="0"/>
                <a:ea typeface="Lora" pitchFamily="34" charset="-122"/>
                <a:cs typeface="Lora" pitchFamily="34" charset="-120"/>
              </a:rPr>
              <a:t>Dynamic &amp; Distributed Nature</a:t>
            </a:r>
            <a:endParaRPr lang="en-US" sz="2150" dirty="0"/>
          </a:p>
        </p:txBody>
      </p:sp>
      <p:sp>
        <p:nvSpPr>
          <p:cNvPr id="8" name="Text 6"/>
          <p:cNvSpPr/>
          <p:nvPr/>
        </p:nvSpPr>
        <p:spPr>
          <a:xfrm>
            <a:off x="1183362" y="4203383"/>
            <a:ext cx="3544967" cy="1886545"/>
          </a:xfrm>
          <a:prstGeom prst="rect">
            <a:avLst/>
          </a:prstGeom>
          <a:noFill/>
          <a:ln/>
        </p:spPr>
        <p:txBody>
          <a:bodyPr wrap="squar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5G networks are inherently dynamic and distributed, presenting unique challenges in managing diverse traffic patterns across numerous base stations.</a:t>
            </a:r>
            <a:endParaRPr lang="en-US" sz="1850" dirty="0"/>
          </a:p>
        </p:txBody>
      </p:sp>
      <p:sp>
        <p:nvSpPr>
          <p:cNvPr id="9" name="Shape 7"/>
          <p:cNvSpPr/>
          <p:nvPr/>
        </p:nvSpPr>
        <p:spPr>
          <a:xfrm>
            <a:off x="5230535" y="3101935"/>
            <a:ext cx="4169212" cy="3284815"/>
          </a:xfrm>
          <a:prstGeom prst="roundRect">
            <a:avLst>
              <a:gd name="adj" fmla="val 4454"/>
            </a:avLst>
          </a:prstGeom>
          <a:solidFill>
            <a:srgbClr val="FEF5E7"/>
          </a:solidFill>
          <a:ln w="30480">
            <a:solidFill>
              <a:srgbClr val="D9CDBA"/>
            </a:solidFill>
            <a:prstDash val="solid"/>
          </a:ln>
        </p:spPr>
        <p:txBody>
          <a:bodyPr/>
          <a:lstStyle/>
          <a:p>
            <a:endParaRPr lang="en-US"/>
          </a:p>
        </p:txBody>
      </p:sp>
      <p:sp>
        <p:nvSpPr>
          <p:cNvPr id="10" name="Shape 8"/>
          <p:cNvSpPr/>
          <p:nvPr/>
        </p:nvSpPr>
        <p:spPr>
          <a:xfrm>
            <a:off x="5200055" y="3101935"/>
            <a:ext cx="121920" cy="3284815"/>
          </a:xfrm>
          <a:prstGeom prst="roundRect">
            <a:avLst>
              <a:gd name="adj" fmla="val 29021"/>
            </a:avLst>
          </a:prstGeom>
          <a:solidFill>
            <a:srgbClr val="38512F"/>
          </a:solidFill>
          <a:ln/>
        </p:spPr>
        <p:txBody>
          <a:bodyPr/>
          <a:lstStyle/>
          <a:p>
            <a:endParaRPr lang="en-US"/>
          </a:p>
        </p:txBody>
      </p:sp>
      <p:sp>
        <p:nvSpPr>
          <p:cNvPr id="11" name="Text 9"/>
          <p:cNvSpPr/>
          <p:nvPr/>
        </p:nvSpPr>
        <p:spPr>
          <a:xfrm>
            <a:off x="5588318" y="3368278"/>
            <a:ext cx="3486388" cy="346829"/>
          </a:xfrm>
          <a:prstGeom prst="rect">
            <a:avLst/>
          </a:prstGeom>
          <a:noFill/>
          <a:ln/>
        </p:spPr>
        <p:txBody>
          <a:bodyPr wrap="none" lIns="0" tIns="0" rIns="0" bIns="0" rtlCol="0" anchor="t"/>
          <a:lstStyle/>
          <a:p>
            <a:pPr marL="0" indent="0" algn="l">
              <a:lnSpc>
                <a:spcPts val="2700"/>
              </a:lnSpc>
              <a:buNone/>
            </a:pPr>
            <a:r>
              <a:rPr lang="en-US" sz="2150" dirty="0">
                <a:solidFill>
                  <a:srgbClr val="3A3630"/>
                </a:solidFill>
                <a:latin typeface="Lora" pitchFamily="34" charset="0"/>
                <a:ea typeface="Lora" pitchFamily="34" charset="-122"/>
                <a:cs typeface="Lora" pitchFamily="34" charset="-120"/>
              </a:rPr>
              <a:t>Impact of Abnormal Traffic</a:t>
            </a:r>
            <a:endParaRPr lang="en-US" sz="2150" dirty="0"/>
          </a:p>
        </p:txBody>
      </p:sp>
      <p:sp>
        <p:nvSpPr>
          <p:cNvPr id="12" name="Text 10"/>
          <p:cNvSpPr/>
          <p:nvPr/>
        </p:nvSpPr>
        <p:spPr>
          <a:xfrm>
            <a:off x="5588318" y="3856553"/>
            <a:ext cx="3545086" cy="2263854"/>
          </a:xfrm>
          <a:prstGeom prst="rect">
            <a:avLst/>
          </a:prstGeom>
          <a:noFill/>
          <a:ln/>
        </p:spPr>
        <p:txBody>
          <a:bodyPr wrap="squar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While not always malicious, abnormal traffic behaviour can significantly increase latency and cause packet loss, critically affecting emergency and low-latency services.</a:t>
            </a:r>
            <a:endParaRPr lang="en-US" sz="1850" dirty="0"/>
          </a:p>
        </p:txBody>
      </p:sp>
      <p:sp>
        <p:nvSpPr>
          <p:cNvPr id="13" name="Shape 11"/>
          <p:cNvSpPr/>
          <p:nvPr/>
        </p:nvSpPr>
        <p:spPr>
          <a:xfrm>
            <a:off x="9635609" y="3101935"/>
            <a:ext cx="4169212" cy="3284815"/>
          </a:xfrm>
          <a:prstGeom prst="roundRect">
            <a:avLst>
              <a:gd name="adj" fmla="val 4454"/>
            </a:avLst>
          </a:prstGeom>
          <a:solidFill>
            <a:srgbClr val="FEF5E7"/>
          </a:solidFill>
          <a:ln w="30480">
            <a:solidFill>
              <a:srgbClr val="D9CDBA"/>
            </a:solidFill>
            <a:prstDash val="solid"/>
          </a:ln>
        </p:spPr>
        <p:txBody>
          <a:bodyPr/>
          <a:lstStyle/>
          <a:p>
            <a:endParaRPr lang="en-US"/>
          </a:p>
        </p:txBody>
      </p:sp>
      <p:sp>
        <p:nvSpPr>
          <p:cNvPr id="14" name="Shape 12"/>
          <p:cNvSpPr/>
          <p:nvPr/>
        </p:nvSpPr>
        <p:spPr>
          <a:xfrm>
            <a:off x="9605129" y="3101935"/>
            <a:ext cx="121920" cy="3284815"/>
          </a:xfrm>
          <a:prstGeom prst="roundRect">
            <a:avLst>
              <a:gd name="adj" fmla="val 29021"/>
            </a:avLst>
          </a:prstGeom>
          <a:solidFill>
            <a:srgbClr val="38512F"/>
          </a:solidFill>
          <a:ln/>
        </p:spPr>
        <p:txBody>
          <a:bodyPr/>
          <a:lstStyle/>
          <a:p>
            <a:endParaRPr lang="en-US"/>
          </a:p>
        </p:txBody>
      </p:sp>
      <p:sp>
        <p:nvSpPr>
          <p:cNvPr id="15" name="Text 13"/>
          <p:cNvSpPr/>
          <p:nvPr/>
        </p:nvSpPr>
        <p:spPr>
          <a:xfrm>
            <a:off x="9993392" y="3368278"/>
            <a:ext cx="3545086" cy="693658"/>
          </a:xfrm>
          <a:prstGeom prst="rect">
            <a:avLst/>
          </a:prstGeom>
          <a:noFill/>
          <a:ln/>
        </p:spPr>
        <p:txBody>
          <a:bodyPr wrap="square" lIns="0" tIns="0" rIns="0" bIns="0" rtlCol="0" anchor="t"/>
          <a:lstStyle/>
          <a:p>
            <a:pPr marL="0" indent="0" algn="l">
              <a:lnSpc>
                <a:spcPts val="2700"/>
              </a:lnSpc>
              <a:buNone/>
            </a:pPr>
            <a:r>
              <a:rPr lang="en-US" sz="2150" dirty="0">
                <a:solidFill>
                  <a:srgbClr val="3A3630"/>
                </a:solidFill>
                <a:latin typeface="Lora" pitchFamily="34" charset="0"/>
                <a:ea typeface="Lora" pitchFamily="34" charset="-122"/>
                <a:cs typeface="Lora" pitchFamily="34" charset="-120"/>
              </a:rPr>
              <a:t>Limitations of Current Systems</a:t>
            </a:r>
            <a:endParaRPr lang="en-US" sz="2150" dirty="0"/>
          </a:p>
        </p:txBody>
      </p:sp>
      <p:sp>
        <p:nvSpPr>
          <p:cNvPr id="16" name="Text 14"/>
          <p:cNvSpPr/>
          <p:nvPr/>
        </p:nvSpPr>
        <p:spPr>
          <a:xfrm>
            <a:off x="9993392" y="4203383"/>
            <a:ext cx="3545086" cy="1886545"/>
          </a:xfrm>
          <a:prstGeom prst="rect">
            <a:avLst/>
          </a:prstGeom>
          <a:noFill/>
          <a:ln/>
        </p:spPr>
        <p:txBody>
          <a:bodyPr wrap="squar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Existing routing systems assume all traffic is legitimate and only react after congestion has occurred, leading to reactive rather than proactive management.</a:t>
            </a:r>
            <a:endParaRPr lang="en-US" sz="1850" dirty="0"/>
          </a:p>
        </p:txBody>
      </p:sp>
      <p:sp>
        <p:nvSpPr>
          <p:cNvPr id="17" name="Text 15"/>
          <p:cNvSpPr/>
          <p:nvPr/>
        </p:nvSpPr>
        <p:spPr>
          <a:xfrm>
            <a:off x="825579" y="6652022"/>
            <a:ext cx="12979241" cy="754618"/>
          </a:xfrm>
          <a:prstGeom prst="rect">
            <a:avLst/>
          </a:prstGeom>
          <a:noFill/>
          <a:ln/>
        </p:spPr>
        <p:txBody>
          <a:bodyPr wrap="squar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The </a:t>
            </a:r>
            <a:r>
              <a:rPr lang="en-US" sz="1850" dirty="0">
                <a:solidFill>
                  <a:srgbClr val="3A3630"/>
                </a:solidFill>
                <a:highlight>
                  <a:srgbClr val="F98AC7"/>
                </a:highlight>
                <a:latin typeface="Source Sans 3" pitchFamily="34" charset="0"/>
                <a:ea typeface="Source Sans 3" pitchFamily="34" charset="-122"/>
                <a:cs typeface="Source Sans 3" pitchFamily="34" charset="-120"/>
              </a:rPr>
              <a:t>significance</a:t>
            </a:r>
            <a:r>
              <a:rPr lang="en-US" sz="1850" dirty="0">
                <a:solidFill>
                  <a:srgbClr val="3A3630"/>
                </a:solidFill>
                <a:latin typeface="Source Sans 3" pitchFamily="34" charset="0"/>
                <a:ea typeface="Source Sans 3" pitchFamily="34" charset="-122"/>
                <a:cs typeface="Source Sans 3" pitchFamily="34" charset="-120"/>
              </a:rPr>
              <a:t> of addressing this issue cannot be overstated. Failure to proactively manage abnormal traffic behaviour can lead to widespread QoS violations, severe service disruptions, and a markedly poor user experience across the network.</a:t>
            </a:r>
            <a:endParaRPr lang="en-US" sz="1850" dirty="0"/>
          </a:p>
        </p:txBody>
      </p:sp>
      <p:pic>
        <p:nvPicPr>
          <p:cNvPr id="19" name="Picture 18">
            <a:extLst>
              <a:ext uri="{FF2B5EF4-FFF2-40B4-BE49-F238E27FC236}">
                <a16:creationId xmlns:a16="http://schemas.microsoft.com/office/drawing/2014/main" id="{91E82F87-F5A7-B767-1D2C-6A5FE3B54958}"/>
              </a:ext>
            </a:extLst>
          </p:cNvPr>
          <p:cNvPicPr>
            <a:picLocks noChangeAspect="1"/>
          </p:cNvPicPr>
          <p:nvPr/>
        </p:nvPicPr>
        <p:blipFill>
          <a:blip r:embed="rId3"/>
          <a:stretch>
            <a:fillRect/>
          </a:stretch>
        </p:blipFill>
        <p:spPr>
          <a:xfrm>
            <a:off x="12829924" y="7671912"/>
            <a:ext cx="1800476" cy="4763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32366" y="773906"/>
            <a:ext cx="1761530" cy="409099"/>
          </a:xfrm>
          <a:prstGeom prst="roundRect">
            <a:avLst>
              <a:gd name="adj" fmla="val 6389"/>
            </a:avLst>
          </a:prstGeom>
          <a:solidFill>
            <a:srgbClr val="E2ECDF"/>
          </a:solidFill>
          <a:ln/>
        </p:spPr>
        <p:txBody>
          <a:bodyPr/>
          <a:lstStyle/>
          <a:p>
            <a:endParaRPr lang="en-US"/>
          </a:p>
        </p:txBody>
      </p:sp>
      <p:sp>
        <p:nvSpPr>
          <p:cNvPr id="3" name="Text 1"/>
          <p:cNvSpPr/>
          <p:nvPr/>
        </p:nvSpPr>
        <p:spPr>
          <a:xfrm>
            <a:off x="962978" y="839153"/>
            <a:ext cx="1500307" cy="278606"/>
          </a:xfrm>
          <a:prstGeom prst="rect">
            <a:avLst/>
          </a:prstGeom>
          <a:noFill/>
          <a:ln/>
        </p:spPr>
        <p:txBody>
          <a:bodyPr wrap="none" lIns="0" tIns="0" rIns="0" bIns="0" rtlCol="0" anchor="t"/>
          <a:lstStyle/>
          <a:p>
            <a:pPr marL="0" indent="0" algn="l">
              <a:lnSpc>
                <a:spcPts val="2150"/>
              </a:lnSpc>
              <a:buNone/>
            </a:pPr>
            <a:r>
              <a:rPr lang="en-US" sz="1350" dirty="0">
                <a:solidFill>
                  <a:srgbClr val="3A3630"/>
                </a:solidFill>
                <a:latin typeface="Source Sans 3" pitchFamily="34" charset="0"/>
                <a:ea typeface="Source Sans 3" pitchFamily="34" charset="-122"/>
                <a:cs typeface="Source Sans 3" pitchFamily="34" charset="-120"/>
              </a:rPr>
              <a:t>LITERATURE SURVEY</a:t>
            </a:r>
            <a:endParaRPr lang="en-US" sz="1350" dirty="0"/>
          </a:p>
        </p:txBody>
      </p:sp>
      <p:sp>
        <p:nvSpPr>
          <p:cNvPr id="4" name="Text 2"/>
          <p:cNvSpPr/>
          <p:nvPr/>
        </p:nvSpPr>
        <p:spPr>
          <a:xfrm>
            <a:off x="832366" y="1270040"/>
            <a:ext cx="12965549" cy="1281113"/>
          </a:xfrm>
          <a:prstGeom prst="rect">
            <a:avLst/>
          </a:prstGeom>
          <a:noFill/>
          <a:ln/>
        </p:spPr>
        <p:txBody>
          <a:bodyPr wrap="square" lIns="0" tIns="0" rIns="0" bIns="0" rtlCol="0" anchor="t"/>
          <a:lstStyle/>
          <a:p>
            <a:pPr marL="0" indent="0" algn="l">
              <a:lnSpc>
                <a:spcPts val="5000"/>
              </a:lnSpc>
              <a:buNone/>
            </a:pPr>
            <a:r>
              <a:rPr lang="en-US" sz="4000" dirty="0">
                <a:solidFill>
                  <a:srgbClr val="38512F"/>
                </a:solidFill>
                <a:latin typeface="Lora" pitchFamily="34" charset="0"/>
                <a:ea typeface="Lora" pitchFamily="34" charset="-122"/>
                <a:cs typeface="Lora" pitchFamily="34" charset="-120"/>
              </a:rPr>
              <a:t>Foundation &amp; Recent Advancements in Network Anomaly Detection</a:t>
            </a:r>
            <a:endParaRPr lang="en-US" sz="4000" dirty="0"/>
          </a:p>
        </p:txBody>
      </p:sp>
      <p:sp>
        <p:nvSpPr>
          <p:cNvPr id="5" name="Text 3"/>
          <p:cNvSpPr/>
          <p:nvPr/>
        </p:nvSpPr>
        <p:spPr>
          <a:xfrm>
            <a:off x="832366" y="3073718"/>
            <a:ext cx="6217087" cy="696754"/>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Federated Learning-Based Anomaly Detection for Zero-Day Attack Prevention in 6G Network Slices</a:t>
            </a:r>
            <a:r>
              <a:rPr lang="en-US" sz="1700" dirty="0">
                <a:solidFill>
                  <a:srgbClr val="3A3630"/>
                </a:solidFill>
                <a:latin typeface="Source Sans 3" pitchFamily="34" charset="0"/>
                <a:ea typeface="Source Sans 3" pitchFamily="34" charset="-122"/>
                <a:cs typeface="Source Sans 3" pitchFamily="34" charset="-120"/>
              </a:rPr>
              <a:t> – Elsevier, 2025</a:t>
            </a:r>
            <a:endParaRPr lang="en-US" sz="1700" dirty="0"/>
          </a:p>
        </p:txBody>
      </p:sp>
      <p:sp>
        <p:nvSpPr>
          <p:cNvPr id="6" name="Text 4"/>
          <p:cNvSpPr/>
          <p:nvPr/>
        </p:nvSpPr>
        <p:spPr>
          <a:xfrm>
            <a:off x="832366" y="3846671"/>
            <a:ext cx="6217087" cy="696754"/>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Edge-FLGuard: Federated Learning Framework for Anomaly Detection in 5G IoT</a:t>
            </a:r>
            <a:r>
              <a:rPr lang="en-US" sz="1700" dirty="0">
                <a:solidFill>
                  <a:srgbClr val="3A3630"/>
                </a:solidFill>
                <a:latin typeface="Source Sans 3" pitchFamily="34" charset="0"/>
                <a:ea typeface="Source Sans 3" pitchFamily="34" charset="-122"/>
                <a:cs typeface="Source Sans 3" pitchFamily="34" charset="-120"/>
              </a:rPr>
              <a:t> – MDPI, 2025</a:t>
            </a:r>
            <a:endParaRPr lang="en-US" sz="1700" dirty="0"/>
          </a:p>
        </p:txBody>
      </p:sp>
      <p:sp>
        <p:nvSpPr>
          <p:cNvPr id="7" name="Text 5"/>
          <p:cNvSpPr/>
          <p:nvPr/>
        </p:nvSpPr>
        <p:spPr>
          <a:xfrm>
            <a:off x="832366" y="4619625"/>
            <a:ext cx="6217087" cy="696754"/>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Federated Learning for Anomaly Detection in Open RAN</a:t>
            </a:r>
            <a:r>
              <a:rPr lang="en-US" sz="1700" dirty="0">
                <a:solidFill>
                  <a:srgbClr val="3A3630"/>
                </a:solidFill>
                <a:latin typeface="Source Sans 3" pitchFamily="34" charset="0"/>
                <a:ea typeface="Source Sans 3" pitchFamily="34" charset="-122"/>
                <a:cs typeface="Source Sans 3" pitchFamily="34" charset="-120"/>
              </a:rPr>
              <a:t> – IEEE EUCNC, 2024</a:t>
            </a:r>
            <a:endParaRPr lang="en-US" sz="1700" dirty="0"/>
          </a:p>
        </p:txBody>
      </p:sp>
      <p:sp>
        <p:nvSpPr>
          <p:cNvPr id="8" name="Text 6"/>
          <p:cNvSpPr/>
          <p:nvPr/>
        </p:nvSpPr>
        <p:spPr>
          <a:xfrm>
            <a:off x="832366" y="5392579"/>
            <a:ext cx="6217087" cy="696754"/>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MDQ: QoS-Congestion Aware Deep RL for Multi-Path Routing</a:t>
            </a:r>
            <a:r>
              <a:rPr lang="en-US" sz="1700" dirty="0">
                <a:solidFill>
                  <a:srgbClr val="3A3630"/>
                </a:solidFill>
                <a:latin typeface="Source Sans 3" pitchFamily="34" charset="0"/>
                <a:ea typeface="Source Sans 3" pitchFamily="34" charset="-122"/>
                <a:cs typeface="Source Sans 3" pitchFamily="34" charset="-120"/>
              </a:rPr>
              <a:t> – IEEE,2024</a:t>
            </a:r>
            <a:endParaRPr lang="en-US" sz="1700" dirty="0"/>
          </a:p>
        </p:txBody>
      </p:sp>
      <p:sp>
        <p:nvSpPr>
          <p:cNvPr id="9" name="Text 7"/>
          <p:cNvSpPr/>
          <p:nvPr/>
        </p:nvSpPr>
        <p:spPr>
          <a:xfrm>
            <a:off x="7588329" y="3073718"/>
            <a:ext cx="6217087" cy="348377"/>
          </a:xfrm>
          <a:prstGeom prst="rect">
            <a:avLst/>
          </a:prstGeom>
          <a:noFill/>
          <a:ln/>
        </p:spPr>
        <p:txBody>
          <a:bodyPr wrap="none" lIns="0" tIns="0" rIns="0" bIns="0" rtlCol="0" anchor="t"/>
          <a:lstStyle/>
          <a:p>
            <a:pPr marL="342900" indent="-342900">
              <a:lnSpc>
                <a:spcPts val="2700"/>
              </a:lnSpc>
              <a:buSzPct val="100000"/>
              <a:buChar char="•"/>
            </a:pPr>
            <a:r>
              <a:rPr lang="en-US" sz="1600" b="1" dirty="0">
                <a:latin typeface="Source Sans 3" panose="020B0604020202020204" charset="0"/>
              </a:rPr>
              <a:t>Deep Learning Driven QoS Anomaly Detection for Network </a:t>
            </a:r>
            <a:br>
              <a:rPr lang="en-US" sz="1600" b="1" dirty="0">
                <a:latin typeface="Source Sans 3" panose="020B0604020202020204" charset="0"/>
              </a:rPr>
            </a:br>
            <a:r>
              <a:rPr lang="en-US" sz="1600" b="1" dirty="0">
                <a:latin typeface="Source Sans 3" panose="020B0604020202020204" charset="0"/>
              </a:rPr>
              <a:t>Performance Optimization – </a:t>
            </a:r>
            <a:r>
              <a:rPr lang="en-US" sz="1600" i="1" dirty="0">
                <a:latin typeface="Source Sans 3" panose="020B0604020202020204" charset="0"/>
              </a:rPr>
              <a:t>JES, 2023</a:t>
            </a:r>
          </a:p>
        </p:txBody>
      </p:sp>
      <p:sp>
        <p:nvSpPr>
          <p:cNvPr id="10" name="Text 8"/>
          <p:cNvSpPr/>
          <p:nvPr/>
        </p:nvSpPr>
        <p:spPr>
          <a:xfrm>
            <a:off x="7588329" y="3815146"/>
            <a:ext cx="6217087" cy="348377"/>
          </a:xfrm>
          <a:prstGeom prst="rect">
            <a:avLst/>
          </a:prstGeom>
          <a:noFill/>
          <a:ln/>
        </p:spPr>
        <p:txBody>
          <a:bodyPr wrap="non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Network Slicing Security in 5G and Beyond</a:t>
            </a:r>
            <a:r>
              <a:rPr lang="en-US" sz="1700" dirty="0">
                <a:solidFill>
                  <a:srgbClr val="3A3630"/>
                </a:solidFill>
                <a:latin typeface="Source Sans 3" pitchFamily="34" charset="0"/>
                <a:ea typeface="Source Sans 3" pitchFamily="34" charset="-122"/>
                <a:cs typeface="Source Sans 3" pitchFamily="34" charset="-120"/>
              </a:rPr>
              <a:t> – IEEE Survey,2023</a:t>
            </a:r>
            <a:endParaRPr lang="en-US" sz="1700" dirty="0"/>
          </a:p>
        </p:txBody>
      </p:sp>
      <p:sp>
        <p:nvSpPr>
          <p:cNvPr id="11" name="Text 9"/>
          <p:cNvSpPr/>
          <p:nvPr/>
        </p:nvSpPr>
        <p:spPr>
          <a:xfrm>
            <a:off x="7588329" y="4290334"/>
            <a:ext cx="6217087" cy="348377"/>
          </a:xfrm>
          <a:prstGeom prst="rect">
            <a:avLst/>
          </a:prstGeom>
          <a:noFill/>
          <a:ln/>
        </p:spPr>
        <p:txBody>
          <a:bodyPr wrap="non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Federated Learning for 5G and Beyond Networks</a:t>
            </a:r>
            <a:r>
              <a:rPr lang="en-US" sz="1700" dirty="0">
                <a:solidFill>
                  <a:srgbClr val="3A3630"/>
                </a:solidFill>
                <a:latin typeface="Source Sans 3" pitchFamily="34" charset="0"/>
                <a:ea typeface="Source Sans 3" pitchFamily="34" charset="-122"/>
                <a:cs typeface="Source Sans 3" pitchFamily="34" charset="-120"/>
              </a:rPr>
              <a:t> – IEEE,2023</a:t>
            </a:r>
            <a:endParaRPr lang="en-US" sz="1700" dirty="0"/>
          </a:p>
        </p:txBody>
      </p:sp>
      <p:sp>
        <p:nvSpPr>
          <p:cNvPr id="12" name="Text 10"/>
          <p:cNvSpPr/>
          <p:nvPr/>
        </p:nvSpPr>
        <p:spPr>
          <a:xfrm>
            <a:off x="7588329" y="4757149"/>
            <a:ext cx="6217087" cy="348377"/>
          </a:xfrm>
          <a:prstGeom prst="rect">
            <a:avLst/>
          </a:prstGeom>
          <a:noFill/>
          <a:ln/>
        </p:spPr>
        <p:txBody>
          <a:bodyPr wrap="non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AI-Based Traffic Management in 5G Networks</a:t>
            </a:r>
            <a:r>
              <a:rPr lang="en-US" sz="1700" dirty="0">
                <a:solidFill>
                  <a:srgbClr val="3A3630"/>
                </a:solidFill>
                <a:latin typeface="Source Sans 3" pitchFamily="34" charset="0"/>
                <a:ea typeface="Source Sans 3" pitchFamily="34" charset="-122"/>
                <a:cs typeface="Source Sans 3" pitchFamily="34" charset="-120"/>
              </a:rPr>
              <a:t> – IEEE Access , 2023</a:t>
            </a:r>
            <a:endParaRPr lang="en-US" sz="1700" dirty="0"/>
          </a:p>
        </p:txBody>
      </p:sp>
      <p:sp>
        <p:nvSpPr>
          <p:cNvPr id="13" name="Text 11"/>
          <p:cNvSpPr/>
          <p:nvPr/>
        </p:nvSpPr>
        <p:spPr>
          <a:xfrm>
            <a:off x="832366" y="6410444"/>
            <a:ext cx="12965549" cy="1045131"/>
          </a:xfrm>
          <a:prstGeom prst="rect">
            <a:avLst/>
          </a:prstGeom>
          <a:noFill/>
          <a:ln/>
        </p:spPr>
        <p:txBody>
          <a:bodyPr wrap="square" lIns="0" tIns="0" rIns="0" bIns="0" rtlCol="0" anchor="t"/>
          <a:lstStyle/>
          <a:p>
            <a:pPr marL="0" indent="0" algn="l">
              <a:lnSpc>
                <a:spcPts val="2700"/>
              </a:lnSpc>
              <a:buNone/>
            </a:pPr>
            <a:r>
              <a:rPr lang="en-US" sz="1700" dirty="0">
                <a:solidFill>
                  <a:srgbClr val="3A3630"/>
                </a:solidFill>
                <a:latin typeface="Source Sans 3" pitchFamily="34" charset="0"/>
                <a:ea typeface="Source Sans 3" pitchFamily="34" charset="-122"/>
                <a:cs typeface="Source Sans 3" pitchFamily="34" charset="-120"/>
              </a:rPr>
              <a:t>Our research builds upon recent advancements in federated learning and anomaly detection within 5G and emerging 6G network architectures. This literature review highlights key works that inform our understanding of network security, QoS management, and the potential of distributed machine learning paradigms.</a:t>
            </a:r>
            <a:endParaRPr lang="en-US" sz="1700" dirty="0"/>
          </a:p>
        </p:txBody>
      </p:sp>
      <p:pic>
        <p:nvPicPr>
          <p:cNvPr id="15" name="Picture 14">
            <a:extLst>
              <a:ext uri="{FF2B5EF4-FFF2-40B4-BE49-F238E27FC236}">
                <a16:creationId xmlns:a16="http://schemas.microsoft.com/office/drawing/2014/main" id="{BE745750-70FC-3145-C6F1-FC65C01E7FA4}"/>
              </a:ext>
            </a:extLst>
          </p:cNvPr>
          <p:cNvPicPr>
            <a:picLocks noChangeAspect="1"/>
          </p:cNvPicPr>
          <p:nvPr/>
        </p:nvPicPr>
        <p:blipFill>
          <a:blip r:embed="rId3"/>
          <a:stretch>
            <a:fillRect/>
          </a:stretch>
        </p:blipFill>
        <p:spPr>
          <a:xfrm>
            <a:off x="12710254" y="7654223"/>
            <a:ext cx="1800476" cy="476316"/>
          </a:xfrm>
          <a:prstGeom prst="rect">
            <a:avLst/>
          </a:prstGeom>
        </p:spPr>
      </p:pic>
      <p:sp>
        <p:nvSpPr>
          <p:cNvPr id="16" name="TextBox 15">
            <a:extLst>
              <a:ext uri="{FF2B5EF4-FFF2-40B4-BE49-F238E27FC236}">
                <a16:creationId xmlns:a16="http://schemas.microsoft.com/office/drawing/2014/main" id="{F500DB71-8FAA-ABFB-EADF-2D26C8A4F98D}"/>
              </a:ext>
            </a:extLst>
          </p:cNvPr>
          <p:cNvSpPr txBox="1"/>
          <p:nvPr/>
        </p:nvSpPr>
        <p:spPr>
          <a:xfrm>
            <a:off x="7479323" y="5283950"/>
            <a:ext cx="7315200" cy="421269"/>
          </a:xfrm>
          <a:prstGeom prst="rect">
            <a:avLst/>
          </a:prstGeom>
          <a:noFill/>
        </p:spPr>
        <p:txBody>
          <a:bodyPr wrap="square">
            <a:spAutoFit/>
          </a:bodyPr>
          <a:lstStyle/>
          <a:p>
            <a:pPr marL="342900" indent="-342900" algn="l">
              <a:lnSpc>
                <a:spcPts val="2700"/>
              </a:lnSpc>
              <a:buSzPct val="100000"/>
              <a:buChar char="•"/>
            </a:pPr>
            <a:r>
              <a:rPr lang="en-US" sz="1800" b="1" dirty="0">
                <a:solidFill>
                  <a:srgbClr val="3A3630"/>
                </a:solidFill>
                <a:latin typeface="Source Sans 3" pitchFamily="34" charset="0"/>
                <a:ea typeface="Source Sans 3" pitchFamily="34" charset="-122"/>
                <a:cs typeface="Source Sans 3" pitchFamily="34" charset="-120"/>
              </a:rPr>
              <a:t>QoS-Aware Routing for 5G Networks: A Survey</a:t>
            </a:r>
            <a:r>
              <a:rPr lang="en-US" sz="1800" dirty="0">
                <a:solidFill>
                  <a:srgbClr val="3A3630"/>
                </a:solidFill>
                <a:latin typeface="Source Sans 3" pitchFamily="34" charset="0"/>
                <a:ea typeface="Source Sans 3" pitchFamily="34" charset="-122"/>
                <a:cs typeface="Source Sans 3" pitchFamily="34" charset="-120"/>
              </a:rPr>
              <a:t> – Elsevier , 2022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602462" y="528161"/>
            <a:ext cx="1615202" cy="360759"/>
          </a:xfrm>
          <a:prstGeom prst="roundRect">
            <a:avLst>
              <a:gd name="adj" fmla="val 6384"/>
            </a:avLst>
          </a:prstGeom>
          <a:solidFill>
            <a:srgbClr val="E2ECDF"/>
          </a:solidFill>
          <a:ln/>
        </p:spPr>
        <p:txBody>
          <a:bodyPr/>
          <a:lstStyle/>
          <a:p>
            <a:endParaRPr lang="en-US"/>
          </a:p>
        </p:txBody>
      </p:sp>
      <p:sp>
        <p:nvSpPr>
          <p:cNvPr id="3" name="Text 1"/>
          <p:cNvSpPr/>
          <p:nvPr/>
        </p:nvSpPr>
        <p:spPr>
          <a:xfrm>
            <a:off x="1717596" y="585668"/>
            <a:ext cx="1384935" cy="245745"/>
          </a:xfrm>
          <a:prstGeom prst="rect">
            <a:avLst/>
          </a:prstGeom>
          <a:noFill/>
          <a:ln/>
        </p:spPr>
        <p:txBody>
          <a:bodyPr wrap="none" lIns="0" tIns="0" rIns="0" bIns="0" rtlCol="0" anchor="t"/>
          <a:lstStyle/>
          <a:p>
            <a:pPr marL="0" indent="0" algn="l">
              <a:lnSpc>
                <a:spcPts val="1900"/>
              </a:lnSpc>
              <a:buNone/>
            </a:pPr>
            <a:r>
              <a:rPr lang="en-US" sz="1200" dirty="0">
                <a:solidFill>
                  <a:srgbClr val="3A3630"/>
                </a:solidFill>
                <a:latin typeface="Source Sans 3" pitchFamily="34" charset="0"/>
                <a:ea typeface="Source Sans 3" pitchFamily="34" charset="-122"/>
                <a:cs typeface="Source Sans 3" pitchFamily="34" charset="-120"/>
              </a:rPr>
              <a:t>EXISTING SOLUTIONS</a:t>
            </a:r>
            <a:endParaRPr lang="en-US" sz="1200" dirty="0"/>
          </a:p>
        </p:txBody>
      </p:sp>
      <p:sp>
        <p:nvSpPr>
          <p:cNvPr id="4" name="Text 2"/>
          <p:cNvSpPr/>
          <p:nvPr/>
        </p:nvSpPr>
        <p:spPr>
          <a:xfrm>
            <a:off x="1602462" y="965597"/>
            <a:ext cx="11425476" cy="1128951"/>
          </a:xfrm>
          <a:prstGeom prst="rect">
            <a:avLst/>
          </a:prstGeom>
          <a:noFill/>
          <a:ln/>
        </p:spPr>
        <p:txBody>
          <a:bodyPr wrap="square" lIns="0" tIns="0" rIns="0" bIns="0" rtlCol="0" anchor="t"/>
          <a:lstStyle/>
          <a:p>
            <a:pPr marL="0" indent="0" algn="l">
              <a:lnSpc>
                <a:spcPts val="4400"/>
              </a:lnSpc>
              <a:buNone/>
            </a:pPr>
            <a:r>
              <a:rPr lang="en-US" sz="3550" dirty="0">
                <a:solidFill>
                  <a:srgbClr val="38512F"/>
                </a:solidFill>
                <a:latin typeface="Lora" pitchFamily="34" charset="0"/>
                <a:ea typeface="Lora" pitchFamily="34" charset="-122"/>
                <a:cs typeface="Lora" pitchFamily="34" charset="-120"/>
              </a:rPr>
              <a:t>Limitations of Current QoS Routing and Anomaly Detection</a:t>
            </a:r>
            <a:endParaRPr lang="en-US" sz="3550" dirty="0"/>
          </a:p>
        </p:txBody>
      </p:sp>
      <p:sp>
        <p:nvSpPr>
          <p:cNvPr id="5" name="Shape 3"/>
          <p:cNvSpPr/>
          <p:nvPr/>
        </p:nvSpPr>
        <p:spPr>
          <a:xfrm>
            <a:off x="1602462" y="2382441"/>
            <a:ext cx="22860" cy="4057174"/>
          </a:xfrm>
          <a:prstGeom prst="roundRect">
            <a:avLst>
              <a:gd name="adj" fmla="val 125939"/>
            </a:avLst>
          </a:prstGeom>
          <a:solidFill>
            <a:srgbClr val="D9CDBA"/>
          </a:solidFill>
          <a:ln/>
        </p:spPr>
        <p:txBody>
          <a:bodyPr/>
          <a:lstStyle/>
          <a:p>
            <a:endParaRPr lang="en-US"/>
          </a:p>
        </p:txBody>
      </p:sp>
      <p:sp>
        <p:nvSpPr>
          <p:cNvPr id="6" name="Shape 4"/>
          <p:cNvSpPr/>
          <p:nvPr/>
        </p:nvSpPr>
        <p:spPr>
          <a:xfrm>
            <a:off x="1625322" y="2382441"/>
            <a:ext cx="11425476" cy="1836658"/>
          </a:xfrm>
          <a:prstGeom prst="rect">
            <a:avLst/>
          </a:prstGeom>
          <a:solidFill>
            <a:srgbClr val="F3E7D4"/>
          </a:solidFill>
          <a:ln/>
        </p:spPr>
        <p:txBody>
          <a:bodyPr/>
          <a:lstStyle/>
          <a:p>
            <a:endParaRPr lang="en-US"/>
          </a:p>
        </p:txBody>
      </p:sp>
      <p:sp>
        <p:nvSpPr>
          <p:cNvPr id="7" name="Text 5"/>
          <p:cNvSpPr/>
          <p:nvPr/>
        </p:nvSpPr>
        <p:spPr>
          <a:xfrm>
            <a:off x="1817251" y="2574369"/>
            <a:ext cx="2257901" cy="282178"/>
          </a:xfrm>
          <a:prstGeom prst="rect">
            <a:avLst/>
          </a:prstGeom>
          <a:noFill/>
          <a:ln/>
        </p:spPr>
        <p:txBody>
          <a:bodyPr wrap="none" lIns="0" tIns="0" rIns="0" bIns="0" rtlCol="0" anchor="t"/>
          <a:lstStyle/>
          <a:p>
            <a:pPr marL="0" indent="0" algn="l">
              <a:lnSpc>
                <a:spcPts val="2200"/>
              </a:lnSpc>
              <a:buNone/>
            </a:pPr>
            <a:r>
              <a:rPr lang="en-US" sz="1750" dirty="0">
                <a:solidFill>
                  <a:srgbClr val="3A3630"/>
                </a:solidFill>
                <a:latin typeface="Lora" pitchFamily="34" charset="0"/>
                <a:ea typeface="Lora" pitchFamily="34" charset="-122"/>
                <a:cs typeface="Lora" pitchFamily="34" charset="-120"/>
              </a:rPr>
              <a:t>QoS-Based Routing</a:t>
            </a:r>
            <a:endParaRPr lang="en-US" sz="1750" dirty="0"/>
          </a:p>
        </p:txBody>
      </p:sp>
      <p:sp>
        <p:nvSpPr>
          <p:cNvPr id="8" name="Text 6"/>
          <p:cNvSpPr/>
          <p:nvPr/>
        </p:nvSpPr>
        <p:spPr>
          <a:xfrm>
            <a:off x="1817251" y="2971681"/>
            <a:ext cx="11041618" cy="30706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3A3630"/>
                </a:solidFill>
                <a:latin typeface="Source Sans 3" pitchFamily="34" charset="0"/>
                <a:ea typeface="Source Sans 3" pitchFamily="34" charset="-122"/>
                <a:cs typeface="Source Sans 3" pitchFamily="34" charset="-120"/>
              </a:rPr>
              <a:t>Primarily focuses on metrics like latency, throughput, and bandwidth.</a:t>
            </a:r>
            <a:endParaRPr lang="en-US" sz="1500" dirty="0"/>
          </a:p>
        </p:txBody>
      </p:sp>
      <p:sp>
        <p:nvSpPr>
          <p:cNvPr id="9" name="Text 7"/>
          <p:cNvSpPr/>
          <p:nvPr/>
        </p:nvSpPr>
        <p:spPr>
          <a:xfrm>
            <a:off x="1817251" y="3345894"/>
            <a:ext cx="11041618" cy="30706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3A3630"/>
                </a:solidFill>
                <a:latin typeface="Source Sans 3" pitchFamily="34" charset="0"/>
                <a:ea typeface="Source Sans 3" pitchFamily="34" charset="-122"/>
                <a:cs typeface="Source Sans 3" pitchFamily="34" charset="-120"/>
              </a:rPr>
              <a:t>Overlooks the impact of traffic behaviour.</a:t>
            </a:r>
            <a:endParaRPr lang="en-US" sz="1500" dirty="0"/>
          </a:p>
        </p:txBody>
      </p:sp>
      <p:sp>
        <p:nvSpPr>
          <p:cNvPr id="10" name="Text 8"/>
          <p:cNvSpPr/>
          <p:nvPr/>
        </p:nvSpPr>
        <p:spPr>
          <a:xfrm>
            <a:off x="1817251" y="3720108"/>
            <a:ext cx="11041618" cy="30706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3A3630"/>
                </a:solidFill>
                <a:latin typeface="Source Sans 3" pitchFamily="34" charset="0"/>
                <a:ea typeface="Source Sans 3" pitchFamily="34" charset="-122"/>
                <a:cs typeface="Source Sans 3" pitchFamily="34" charset="-120"/>
              </a:rPr>
              <a:t>Reacts to congestion rather than preventing it.</a:t>
            </a:r>
            <a:endParaRPr lang="en-US" sz="1500" dirty="0"/>
          </a:p>
        </p:txBody>
      </p:sp>
      <p:sp>
        <p:nvSpPr>
          <p:cNvPr id="11" name="Shape 9"/>
          <p:cNvSpPr/>
          <p:nvPr/>
        </p:nvSpPr>
        <p:spPr>
          <a:xfrm>
            <a:off x="1625322" y="4602956"/>
            <a:ext cx="11425476" cy="1836658"/>
          </a:xfrm>
          <a:prstGeom prst="rect">
            <a:avLst/>
          </a:prstGeom>
          <a:solidFill>
            <a:srgbClr val="F3E7D4"/>
          </a:solidFill>
          <a:ln/>
        </p:spPr>
        <p:txBody>
          <a:bodyPr/>
          <a:lstStyle/>
          <a:p>
            <a:endParaRPr lang="en-US"/>
          </a:p>
        </p:txBody>
      </p:sp>
      <p:sp>
        <p:nvSpPr>
          <p:cNvPr id="12" name="Text 10"/>
          <p:cNvSpPr/>
          <p:nvPr/>
        </p:nvSpPr>
        <p:spPr>
          <a:xfrm>
            <a:off x="1817251" y="4794885"/>
            <a:ext cx="3116461" cy="282178"/>
          </a:xfrm>
          <a:prstGeom prst="rect">
            <a:avLst/>
          </a:prstGeom>
          <a:noFill/>
          <a:ln/>
        </p:spPr>
        <p:txBody>
          <a:bodyPr wrap="none" lIns="0" tIns="0" rIns="0" bIns="0" rtlCol="0" anchor="t"/>
          <a:lstStyle/>
          <a:p>
            <a:pPr marL="0" indent="0" algn="l">
              <a:lnSpc>
                <a:spcPts val="2200"/>
              </a:lnSpc>
              <a:buNone/>
            </a:pPr>
            <a:r>
              <a:rPr lang="en-US" sz="1750" dirty="0">
                <a:solidFill>
                  <a:srgbClr val="3A3630"/>
                </a:solidFill>
                <a:latin typeface="Lora" pitchFamily="34" charset="0"/>
                <a:ea typeface="Lora" pitchFamily="34" charset="-122"/>
                <a:cs typeface="Lora" pitchFamily="34" charset="-120"/>
              </a:rPr>
              <a:t>ML-Based Anomaly Detection</a:t>
            </a:r>
            <a:endParaRPr lang="en-US" sz="1750" dirty="0"/>
          </a:p>
        </p:txBody>
      </p:sp>
      <p:sp>
        <p:nvSpPr>
          <p:cNvPr id="13" name="Text 11"/>
          <p:cNvSpPr/>
          <p:nvPr/>
        </p:nvSpPr>
        <p:spPr>
          <a:xfrm>
            <a:off x="1817251" y="5192197"/>
            <a:ext cx="11041618" cy="30706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3A3630"/>
                </a:solidFill>
                <a:latin typeface="Source Sans 3" pitchFamily="34" charset="0"/>
                <a:ea typeface="Source Sans 3" pitchFamily="34" charset="-122"/>
                <a:cs typeface="Source Sans 3" pitchFamily="34" charset="-120"/>
              </a:rPr>
              <a:t>Mainly applied for security and intrusion detection.</a:t>
            </a:r>
            <a:endParaRPr lang="en-US" sz="1500" dirty="0"/>
          </a:p>
        </p:txBody>
      </p:sp>
      <p:sp>
        <p:nvSpPr>
          <p:cNvPr id="14" name="Text 12"/>
          <p:cNvSpPr/>
          <p:nvPr/>
        </p:nvSpPr>
        <p:spPr>
          <a:xfrm>
            <a:off x="1817251" y="5566410"/>
            <a:ext cx="11041618" cy="30706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3A3630"/>
                </a:solidFill>
                <a:latin typeface="Source Sans 3" pitchFamily="34" charset="0"/>
                <a:ea typeface="Source Sans 3" pitchFamily="34" charset="-122"/>
                <a:cs typeface="Source Sans 3" pitchFamily="34" charset="-120"/>
              </a:rPr>
              <a:t>Doesn't directly influence routing decisions.</a:t>
            </a:r>
            <a:endParaRPr lang="en-US" sz="1500" dirty="0"/>
          </a:p>
        </p:txBody>
      </p:sp>
      <p:sp>
        <p:nvSpPr>
          <p:cNvPr id="15" name="Text 13"/>
          <p:cNvSpPr/>
          <p:nvPr/>
        </p:nvSpPr>
        <p:spPr>
          <a:xfrm>
            <a:off x="1817251" y="5940623"/>
            <a:ext cx="11041618" cy="30706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3A3630"/>
                </a:solidFill>
                <a:latin typeface="Source Sans 3" pitchFamily="34" charset="0"/>
                <a:ea typeface="Source Sans 3" pitchFamily="34" charset="-122"/>
                <a:cs typeface="Source Sans 3" pitchFamily="34" charset="-120"/>
              </a:rPr>
              <a:t>Often centralised, requiring large datasets and poor scalability.</a:t>
            </a:r>
            <a:endParaRPr lang="en-US" sz="1500" dirty="0"/>
          </a:p>
        </p:txBody>
      </p:sp>
      <p:sp>
        <p:nvSpPr>
          <p:cNvPr id="16" name="Text 14"/>
          <p:cNvSpPr/>
          <p:nvPr/>
        </p:nvSpPr>
        <p:spPr>
          <a:xfrm>
            <a:off x="1890355" y="6871335"/>
            <a:ext cx="11137583" cy="614124"/>
          </a:xfrm>
          <a:prstGeom prst="rect">
            <a:avLst/>
          </a:prstGeom>
          <a:noFill/>
          <a:ln/>
        </p:spPr>
        <p:txBody>
          <a:bodyPr wrap="squar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Current systems treat security and QoS as isolated problems. This disjointed approach creates significant vulnerabilities in 5G networks, where dynamic traffic patterns and diverse application requirements necessitate a unified strategy.</a:t>
            </a:r>
            <a:endParaRPr lang="en-US" sz="1500" dirty="0"/>
          </a:p>
        </p:txBody>
      </p:sp>
      <p:sp>
        <p:nvSpPr>
          <p:cNvPr id="17" name="Shape 15"/>
          <p:cNvSpPr/>
          <p:nvPr/>
        </p:nvSpPr>
        <p:spPr>
          <a:xfrm>
            <a:off x="1602462" y="6655475"/>
            <a:ext cx="22860" cy="1045845"/>
          </a:xfrm>
          <a:prstGeom prst="rect">
            <a:avLst/>
          </a:prstGeom>
          <a:solidFill>
            <a:srgbClr val="38512F"/>
          </a:solidFill>
          <a:ln/>
        </p:spPr>
        <p:txBody>
          <a:bodyPr/>
          <a:lstStyle/>
          <a:p>
            <a:endParaRPr lang="en-US"/>
          </a:p>
        </p:txBody>
      </p:sp>
      <p:pic>
        <p:nvPicPr>
          <p:cNvPr id="19" name="Picture 18">
            <a:extLst>
              <a:ext uri="{FF2B5EF4-FFF2-40B4-BE49-F238E27FC236}">
                <a16:creationId xmlns:a16="http://schemas.microsoft.com/office/drawing/2014/main" id="{A7087481-C190-D7AA-8361-DC71C3461502}"/>
              </a:ext>
            </a:extLst>
          </p:cNvPr>
          <p:cNvPicPr>
            <a:picLocks noChangeAspect="1"/>
          </p:cNvPicPr>
          <p:nvPr/>
        </p:nvPicPr>
        <p:blipFill>
          <a:blip r:embed="rId3"/>
          <a:stretch>
            <a:fillRect/>
          </a:stretch>
        </p:blipFill>
        <p:spPr>
          <a:xfrm>
            <a:off x="12829924" y="7753284"/>
            <a:ext cx="1800476" cy="4763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413986" y="704731"/>
            <a:ext cx="1714143" cy="372547"/>
          </a:xfrm>
          <a:prstGeom prst="roundRect">
            <a:avLst>
              <a:gd name="adj" fmla="val 6386"/>
            </a:avLst>
          </a:prstGeom>
          <a:solidFill>
            <a:srgbClr val="E2ECDF"/>
          </a:solidFill>
          <a:ln/>
        </p:spPr>
        <p:txBody>
          <a:bodyPr/>
          <a:lstStyle/>
          <a:p>
            <a:endParaRPr lang="en-US"/>
          </a:p>
        </p:txBody>
      </p:sp>
      <p:sp>
        <p:nvSpPr>
          <p:cNvPr id="3" name="Text 1"/>
          <p:cNvSpPr/>
          <p:nvPr/>
        </p:nvSpPr>
        <p:spPr>
          <a:xfrm>
            <a:off x="1532930" y="764143"/>
            <a:ext cx="1476256" cy="253722"/>
          </a:xfrm>
          <a:prstGeom prst="rect">
            <a:avLst/>
          </a:prstGeom>
          <a:noFill/>
          <a:ln/>
        </p:spPr>
        <p:txBody>
          <a:bodyPr wrap="none" lIns="0" tIns="0" rIns="0" bIns="0" rtlCol="0" anchor="t"/>
          <a:lstStyle/>
          <a:p>
            <a:pPr marL="0" indent="0" algn="l">
              <a:lnSpc>
                <a:spcPts val="1950"/>
              </a:lnSpc>
              <a:buNone/>
            </a:pPr>
            <a:r>
              <a:rPr lang="en-US" sz="1200" dirty="0">
                <a:solidFill>
                  <a:srgbClr val="3A3630"/>
                </a:solidFill>
                <a:latin typeface="Source Sans 3" pitchFamily="34" charset="0"/>
                <a:ea typeface="Source Sans 3" pitchFamily="34" charset="-122"/>
                <a:cs typeface="Source Sans 3" pitchFamily="34" charset="-120"/>
              </a:rPr>
              <a:t>PROPOSED SOLUTION</a:t>
            </a:r>
            <a:endParaRPr lang="en-US" sz="1200" dirty="0"/>
          </a:p>
        </p:txBody>
      </p:sp>
      <p:sp>
        <p:nvSpPr>
          <p:cNvPr id="4" name="Text 2"/>
          <p:cNvSpPr/>
          <p:nvPr/>
        </p:nvSpPr>
        <p:spPr>
          <a:xfrm>
            <a:off x="1413986" y="1156573"/>
            <a:ext cx="11802308" cy="1166098"/>
          </a:xfrm>
          <a:prstGeom prst="rect">
            <a:avLst/>
          </a:prstGeom>
          <a:noFill/>
          <a:ln/>
        </p:spPr>
        <p:txBody>
          <a:bodyPr wrap="square" lIns="0" tIns="0" rIns="0" bIns="0" rtlCol="0" anchor="t"/>
          <a:lstStyle/>
          <a:p>
            <a:pPr marL="0" indent="0" algn="l">
              <a:lnSpc>
                <a:spcPts val="4550"/>
              </a:lnSpc>
              <a:buNone/>
            </a:pPr>
            <a:r>
              <a:rPr lang="en-US" sz="3650" dirty="0">
                <a:solidFill>
                  <a:srgbClr val="38512F"/>
                </a:solidFill>
                <a:latin typeface="Lora" pitchFamily="34" charset="0"/>
                <a:ea typeface="Lora" pitchFamily="34" charset="-122"/>
                <a:cs typeface="Lora" pitchFamily="34" charset="-120"/>
              </a:rPr>
              <a:t>Introducing Federated Learning for Anomaly-Aware QoS Routing</a:t>
            </a:r>
            <a:endParaRPr lang="en-US" sz="3650" dirty="0"/>
          </a:p>
        </p:txBody>
      </p:sp>
      <p:sp>
        <p:nvSpPr>
          <p:cNvPr id="5" name="Text 3"/>
          <p:cNvSpPr/>
          <p:nvPr/>
        </p:nvSpPr>
        <p:spPr>
          <a:xfrm>
            <a:off x="1413986" y="2619970"/>
            <a:ext cx="11802308" cy="634365"/>
          </a:xfrm>
          <a:prstGeom prst="rect">
            <a:avLst/>
          </a:prstGeom>
          <a:noFill/>
          <a:ln/>
        </p:spPr>
        <p:txBody>
          <a:bodyPr wrap="square" lIns="0" tIns="0" rIns="0" bIns="0" rtlCol="0" anchor="t"/>
          <a:lstStyle/>
          <a:p>
            <a:pPr marL="0" indent="0" algn="l">
              <a:lnSpc>
                <a:spcPts val="2450"/>
              </a:lnSpc>
              <a:buNone/>
            </a:pPr>
            <a:r>
              <a:rPr lang="en-US" sz="1550" dirty="0">
                <a:solidFill>
                  <a:srgbClr val="3A3630"/>
                </a:solidFill>
                <a:latin typeface="Source Sans 3" pitchFamily="34" charset="0"/>
                <a:ea typeface="Source Sans 3" pitchFamily="34" charset="-122"/>
                <a:cs typeface="Source Sans 3" pitchFamily="34" charset="-120"/>
              </a:rPr>
              <a:t>This project proposes a novel </a:t>
            </a:r>
            <a:r>
              <a:rPr lang="en-US" sz="1550" dirty="0">
                <a:solidFill>
                  <a:srgbClr val="3A3630"/>
                </a:solidFill>
                <a:highlight>
                  <a:srgbClr val="CCCCCC"/>
                </a:highlight>
                <a:latin typeface="Source Sans 3" pitchFamily="34" charset="0"/>
                <a:ea typeface="Source Sans 3" pitchFamily="34" charset="-122"/>
                <a:cs typeface="Source Sans 3" pitchFamily="34" charset="-120"/>
              </a:rPr>
              <a:t>Anomaly-Aware QoS Routing Framework </a:t>
            </a:r>
            <a:r>
              <a:rPr lang="en-US" sz="1550" dirty="0">
                <a:solidFill>
                  <a:srgbClr val="3A3630"/>
                </a:solidFill>
                <a:latin typeface="Source Sans 3" pitchFamily="34" charset="0"/>
                <a:ea typeface="Source Sans 3" pitchFamily="34" charset="-122"/>
                <a:cs typeface="Source Sans 3" pitchFamily="34" charset="-120"/>
              </a:rPr>
              <a:t>that leverages the power of </a:t>
            </a:r>
            <a:r>
              <a:rPr lang="en-US" sz="1550" b="1" dirty="0">
                <a:solidFill>
                  <a:srgbClr val="3A3630"/>
                </a:solidFill>
                <a:latin typeface="Source Sans 3" pitchFamily="34" charset="0"/>
                <a:ea typeface="Source Sans 3" pitchFamily="34" charset="-122"/>
                <a:cs typeface="Source Sans 3" pitchFamily="34" charset="-120"/>
              </a:rPr>
              <a:t>Federated Learning</a:t>
            </a:r>
            <a:r>
              <a:rPr lang="en-US" sz="1550" dirty="0">
                <a:solidFill>
                  <a:srgbClr val="3A3630"/>
                </a:solidFill>
                <a:latin typeface="Source Sans 3" pitchFamily="34" charset="0"/>
                <a:ea typeface="Source Sans 3" pitchFamily="34" charset="-122"/>
                <a:cs typeface="Source Sans 3" pitchFamily="34" charset="-120"/>
              </a:rPr>
              <a:t> to create more resilient and efficient 5G networks.</a:t>
            </a:r>
            <a:endParaRPr lang="en-US" sz="1550" dirty="0"/>
          </a:p>
        </p:txBody>
      </p:sp>
      <p:sp>
        <p:nvSpPr>
          <p:cNvPr id="6" name="Text 4"/>
          <p:cNvSpPr/>
          <p:nvPr/>
        </p:nvSpPr>
        <p:spPr>
          <a:xfrm>
            <a:off x="1413986" y="3551634"/>
            <a:ext cx="2798921" cy="349806"/>
          </a:xfrm>
          <a:prstGeom prst="rect">
            <a:avLst/>
          </a:prstGeom>
          <a:noFill/>
          <a:ln/>
        </p:spPr>
        <p:txBody>
          <a:bodyPr wrap="none" lIns="0" tIns="0" rIns="0" bIns="0" rtlCol="0" anchor="t"/>
          <a:lstStyle/>
          <a:p>
            <a:pPr marL="0" indent="0" algn="l">
              <a:lnSpc>
                <a:spcPts val="2750"/>
              </a:lnSpc>
              <a:buNone/>
            </a:pPr>
            <a:r>
              <a:rPr lang="en-US" sz="2200" dirty="0">
                <a:solidFill>
                  <a:srgbClr val="38512F"/>
                </a:solidFill>
                <a:latin typeface="Lora" pitchFamily="34" charset="0"/>
                <a:ea typeface="Lora" pitchFamily="34" charset="-122"/>
                <a:cs typeface="Lora" pitchFamily="34" charset="-120"/>
              </a:rPr>
              <a:t>Key Idea:</a:t>
            </a:r>
            <a:endParaRPr lang="en-US" sz="2200" dirty="0"/>
          </a:p>
        </p:txBody>
      </p:sp>
      <p:sp>
        <p:nvSpPr>
          <p:cNvPr id="7" name="Text 5"/>
          <p:cNvSpPr/>
          <p:nvPr/>
        </p:nvSpPr>
        <p:spPr>
          <a:xfrm>
            <a:off x="1413986" y="4198739"/>
            <a:ext cx="11802308" cy="634365"/>
          </a:xfrm>
          <a:prstGeom prst="rect">
            <a:avLst/>
          </a:prstGeom>
          <a:noFill/>
          <a:ln/>
        </p:spPr>
        <p:txBody>
          <a:bodyPr wrap="square" lIns="0" tIns="0" rIns="0" bIns="0" rtlCol="0" anchor="t"/>
          <a:lstStyle/>
          <a:p>
            <a:pPr marL="0" indent="0" algn="l">
              <a:lnSpc>
                <a:spcPts val="2450"/>
              </a:lnSpc>
              <a:buNone/>
            </a:pPr>
            <a:r>
              <a:rPr lang="en-US" sz="1550" dirty="0">
                <a:solidFill>
                  <a:srgbClr val="3A3630"/>
                </a:solidFill>
                <a:latin typeface="Source Sans 3" pitchFamily="34" charset="0"/>
                <a:ea typeface="Source Sans 3" pitchFamily="34" charset="-122"/>
                <a:cs typeface="Source Sans 3" pitchFamily="34" charset="-120"/>
              </a:rPr>
              <a:t>The core innovation lies in using real-time traffic behaviour intelligence to dynamically influence and adapt QoS routing decisions, moving beyond static performance metrics.</a:t>
            </a:r>
            <a:endParaRPr lang="en-US" sz="1550" dirty="0"/>
          </a:p>
        </p:txBody>
      </p:sp>
      <p:sp>
        <p:nvSpPr>
          <p:cNvPr id="8" name="Text 6"/>
          <p:cNvSpPr/>
          <p:nvPr/>
        </p:nvSpPr>
        <p:spPr>
          <a:xfrm>
            <a:off x="1413986" y="5130403"/>
            <a:ext cx="2798921" cy="349806"/>
          </a:xfrm>
          <a:prstGeom prst="rect">
            <a:avLst/>
          </a:prstGeom>
          <a:noFill/>
          <a:ln/>
        </p:spPr>
        <p:txBody>
          <a:bodyPr wrap="none" lIns="0" tIns="0" rIns="0" bIns="0" rtlCol="0" anchor="t"/>
          <a:lstStyle/>
          <a:p>
            <a:pPr marL="0" indent="0" algn="l">
              <a:lnSpc>
                <a:spcPts val="2750"/>
              </a:lnSpc>
              <a:buNone/>
            </a:pPr>
            <a:r>
              <a:rPr lang="en-US" sz="2200" dirty="0">
                <a:solidFill>
                  <a:srgbClr val="38512F"/>
                </a:solidFill>
                <a:latin typeface="Lora" pitchFamily="34" charset="0"/>
                <a:ea typeface="Lora" pitchFamily="34" charset="-122"/>
                <a:cs typeface="Lora" pitchFamily="34" charset="-120"/>
              </a:rPr>
              <a:t>Justification:</a:t>
            </a:r>
            <a:endParaRPr lang="en-US" sz="2200" dirty="0"/>
          </a:p>
        </p:txBody>
      </p:sp>
      <p:sp>
        <p:nvSpPr>
          <p:cNvPr id="9" name="Shape 7"/>
          <p:cNvSpPr/>
          <p:nvPr/>
        </p:nvSpPr>
        <p:spPr>
          <a:xfrm>
            <a:off x="1413986" y="5777508"/>
            <a:ext cx="446008" cy="446008"/>
          </a:xfrm>
          <a:prstGeom prst="roundRect">
            <a:avLst>
              <a:gd name="adj" fmla="val 6668"/>
            </a:avLst>
          </a:prstGeom>
          <a:solidFill>
            <a:srgbClr val="F3E7D4"/>
          </a:solidFill>
          <a:ln/>
        </p:spPr>
        <p:txBody>
          <a:bodyPr/>
          <a:lstStyle/>
          <a:p>
            <a:endParaRPr lang="en-US"/>
          </a:p>
        </p:txBody>
      </p:sp>
      <p:sp>
        <p:nvSpPr>
          <p:cNvPr id="10" name="Text 8"/>
          <p:cNvSpPr/>
          <p:nvPr/>
        </p:nvSpPr>
        <p:spPr>
          <a:xfrm>
            <a:off x="2058233" y="5845612"/>
            <a:ext cx="3009900" cy="291465"/>
          </a:xfrm>
          <a:prstGeom prst="rect">
            <a:avLst/>
          </a:prstGeom>
          <a:noFill/>
          <a:ln/>
        </p:spPr>
        <p:txBody>
          <a:bodyPr wrap="none" lIns="0" tIns="0" rIns="0" bIns="0" rtlCol="0" anchor="t"/>
          <a:lstStyle/>
          <a:p>
            <a:pPr marL="0" indent="0" algn="l">
              <a:lnSpc>
                <a:spcPts val="2250"/>
              </a:lnSpc>
              <a:buNone/>
            </a:pPr>
            <a:r>
              <a:rPr lang="en-US" sz="1800" dirty="0">
                <a:solidFill>
                  <a:srgbClr val="3A3630"/>
                </a:solidFill>
                <a:latin typeface="Lora" pitchFamily="34" charset="0"/>
                <a:ea typeface="Lora" pitchFamily="34" charset="-122"/>
                <a:cs typeface="Lora" pitchFamily="34" charset="-120"/>
              </a:rPr>
              <a:t>Mitigating Abnormal Traffic</a:t>
            </a:r>
            <a:endParaRPr lang="en-US" sz="1800" dirty="0"/>
          </a:p>
        </p:txBody>
      </p:sp>
      <p:sp>
        <p:nvSpPr>
          <p:cNvPr id="11" name="Text 9"/>
          <p:cNvSpPr/>
          <p:nvPr/>
        </p:nvSpPr>
        <p:spPr>
          <a:xfrm>
            <a:off x="2058233" y="6256020"/>
            <a:ext cx="5133023" cy="951548"/>
          </a:xfrm>
          <a:prstGeom prst="rect">
            <a:avLst/>
          </a:prstGeom>
          <a:noFill/>
          <a:ln/>
        </p:spPr>
        <p:txBody>
          <a:bodyPr wrap="square" lIns="0" tIns="0" rIns="0" bIns="0" rtlCol="0" anchor="t"/>
          <a:lstStyle/>
          <a:p>
            <a:pPr marL="0" indent="0" algn="l">
              <a:lnSpc>
                <a:spcPts val="2450"/>
              </a:lnSpc>
              <a:buNone/>
            </a:pPr>
            <a:r>
              <a:rPr lang="en-US" sz="1550" dirty="0">
                <a:solidFill>
                  <a:srgbClr val="3A3630"/>
                </a:solidFill>
                <a:latin typeface="Source Sans 3" pitchFamily="34" charset="0"/>
                <a:ea typeface="Source Sans 3" pitchFamily="34" charset="-122"/>
                <a:cs typeface="Source Sans 3" pitchFamily="34" charset="-120"/>
              </a:rPr>
              <a:t>Abnormal traffic, even if not explicitly malicious, can severely degrade QoS. Our approach prevents this degradation by proactively identifying and managing such traffic.</a:t>
            </a:r>
            <a:endParaRPr lang="en-US" sz="1550" dirty="0"/>
          </a:p>
        </p:txBody>
      </p:sp>
      <p:sp>
        <p:nvSpPr>
          <p:cNvPr id="12" name="Shape 10"/>
          <p:cNvSpPr/>
          <p:nvPr/>
        </p:nvSpPr>
        <p:spPr>
          <a:xfrm>
            <a:off x="7439025" y="5777508"/>
            <a:ext cx="446008" cy="446008"/>
          </a:xfrm>
          <a:prstGeom prst="roundRect">
            <a:avLst>
              <a:gd name="adj" fmla="val 6668"/>
            </a:avLst>
          </a:prstGeom>
          <a:solidFill>
            <a:srgbClr val="F3E7D4"/>
          </a:solidFill>
          <a:ln/>
        </p:spPr>
        <p:txBody>
          <a:bodyPr/>
          <a:lstStyle/>
          <a:p>
            <a:endParaRPr lang="en-US"/>
          </a:p>
        </p:txBody>
      </p:sp>
      <p:sp>
        <p:nvSpPr>
          <p:cNvPr id="13" name="Text 11"/>
          <p:cNvSpPr/>
          <p:nvPr/>
        </p:nvSpPr>
        <p:spPr>
          <a:xfrm>
            <a:off x="8083272" y="5845612"/>
            <a:ext cx="3362920" cy="291465"/>
          </a:xfrm>
          <a:prstGeom prst="rect">
            <a:avLst/>
          </a:prstGeom>
          <a:noFill/>
          <a:ln/>
        </p:spPr>
        <p:txBody>
          <a:bodyPr wrap="none" lIns="0" tIns="0" rIns="0" bIns="0" rtlCol="0" anchor="t"/>
          <a:lstStyle/>
          <a:p>
            <a:pPr marL="0" indent="0" algn="l">
              <a:lnSpc>
                <a:spcPts val="2250"/>
              </a:lnSpc>
              <a:buNone/>
            </a:pPr>
            <a:r>
              <a:rPr lang="en-US" sz="1800" dirty="0">
                <a:solidFill>
                  <a:srgbClr val="3A3630"/>
                </a:solidFill>
                <a:latin typeface="Lora" pitchFamily="34" charset="0"/>
                <a:ea typeface="Lora" pitchFamily="34" charset="-122"/>
                <a:cs typeface="Lora" pitchFamily="34" charset="-120"/>
              </a:rPr>
              <a:t>Leveraging Federated Learning</a:t>
            </a:r>
            <a:endParaRPr lang="en-US" sz="1800" dirty="0"/>
          </a:p>
        </p:txBody>
      </p:sp>
      <p:sp>
        <p:nvSpPr>
          <p:cNvPr id="14" name="Text 12"/>
          <p:cNvSpPr/>
          <p:nvPr/>
        </p:nvSpPr>
        <p:spPr>
          <a:xfrm>
            <a:off x="8083272" y="6256020"/>
            <a:ext cx="5133023" cy="1268730"/>
          </a:xfrm>
          <a:prstGeom prst="rect">
            <a:avLst/>
          </a:prstGeom>
          <a:noFill/>
          <a:ln/>
        </p:spPr>
        <p:txBody>
          <a:bodyPr wrap="square" lIns="0" tIns="0" rIns="0" bIns="0" rtlCol="0" anchor="t"/>
          <a:lstStyle/>
          <a:p>
            <a:pPr marL="0" indent="0" algn="l">
              <a:lnSpc>
                <a:spcPts val="2450"/>
              </a:lnSpc>
              <a:buNone/>
            </a:pPr>
            <a:r>
              <a:rPr lang="en-US" sz="1550" dirty="0">
                <a:solidFill>
                  <a:srgbClr val="3A3630"/>
                </a:solidFill>
                <a:latin typeface="Source Sans 3" pitchFamily="34" charset="0"/>
                <a:ea typeface="Source Sans 3" pitchFamily="34" charset="-122"/>
                <a:cs typeface="Source Sans 3" pitchFamily="34" charset="-120"/>
              </a:rPr>
              <a:t>Federated Learning enables distributed model training, ensuring privacy preservation by keeping data local to base stations. This also allows for better generalization of anomaly detection models across diverse network segments.</a:t>
            </a:r>
            <a:endParaRPr lang="en-US" sz="1550" dirty="0"/>
          </a:p>
        </p:txBody>
      </p:sp>
      <p:pic>
        <p:nvPicPr>
          <p:cNvPr id="16" name="Picture 15">
            <a:extLst>
              <a:ext uri="{FF2B5EF4-FFF2-40B4-BE49-F238E27FC236}">
                <a16:creationId xmlns:a16="http://schemas.microsoft.com/office/drawing/2014/main" id="{0D5A7B02-0089-8C34-4D33-F2F84C4CDF7C}"/>
              </a:ext>
            </a:extLst>
          </p:cNvPr>
          <p:cNvPicPr>
            <a:picLocks noChangeAspect="1"/>
          </p:cNvPicPr>
          <p:nvPr/>
        </p:nvPicPr>
        <p:blipFill>
          <a:blip r:embed="rId3"/>
          <a:stretch>
            <a:fillRect/>
          </a:stretch>
        </p:blipFill>
        <p:spPr>
          <a:xfrm>
            <a:off x="12829924" y="7643693"/>
            <a:ext cx="1800476" cy="4763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A9E50-7EE2-FB7A-BA21-0936A1E1AF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A2F450-A9C8-AC3E-E2F8-842870EA8A04}"/>
              </a:ext>
            </a:extLst>
          </p:cNvPr>
          <p:cNvSpPr/>
          <p:nvPr/>
        </p:nvSpPr>
        <p:spPr>
          <a:xfrm>
            <a:off x="1413986" y="704731"/>
            <a:ext cx="2798921" cy="372547"/>
          </a:xfrm>
          <a:prstGeom prst="roundRect">
            <a:avLst>
              <a:gd name="adj" fmla="val 6386"/>
            </a:avLst>
          </a:prstGeom>
          <a:solidFill>
            <a:srgbClr val="E2ECDF"/>
          </a:solidFill>
          <a:ln/>
        </p:spPr>
        <p:txBody>
          <a:bodyPr/>
          <a:lstStyle/>
          <a:p>
            <a:r>
              <a:rPr lang="en-US" dirty="0"/>
              <a:t>SYSTEM ARCHITECTURE</a:t>
            </a:r>
          </a:p>
        </p:txBody>
      </p:sp>
      <p:sp>
        <p:nvSpPr>
          <p:cNvPr id="3" name="Text 1">
            <a:extLst>
              <a:ext uri="{FF2B5EF4-FFF2-40B4-BE49-F238E27FC236}">
                <a16:creationId xmlns:a16="http://schemas.microsoft.com/office/drawing/2014/main" id="{6F4F1709-65B3-4B4B-8FFE-BFBD2D3A6CD9}"/>
              </a:ext>
            </a:extLst>
          </p:cNvPr>
          <p:cNvSpPr/>
          <p:nvPr/>
        </p:nvSpPr>
        <p:spPr>
          <a:xfrm>
            <a:off x="1532930" y="764143"/>
            <a:ext cx="1476256" cy="253722"/>
          </a:xfrm>
          <a:prstGeom prst="rect">
            <a:avLst/>
          </a:prstGeom>
          <a:noFill/>
          <a:ln/>
        </p:spPr>
        <p:txBody>
          <a:bodyPr wrap="none" lIns="0" tIns="0" rIns="0" bIns="0" rtlCol="0" anchor="t"/>
          <a:lstStyle/>
          <a:p>
            <a:pPr marL="0" indent="0" algn="l">
              <a:lnSpc>
                <a:spcPts val="1950"/>
              </a:lnSpc>
              <a:buNone/>
            </a:pPr>
            <a:endParaRPr lang="en-US" sz="1200" dirty="0"/>
          </a:p>
        </p:txBody>
      </p:sp>
      <p:pic>
        <p:nvPicPr>
          <p:cNvPr id="16" name="Picture 15">
            <a:extLst>
              <a:ext uri="{FF2B5EF4-FFF2-40B4-BE49-F238E27FC236}">
                <a16:creationId xmlns:a16="http://schemas.microsoft.com/office/drawing/2014/main" id="{41F57516-E806-3000-67C7-CB600EBEFCF5}"/>
              </a:ext>
            </a:extLst>
          </p:cNvPr>
          <p:cNvPicPr>
            <a:picLocks noChangeAspect="1"/>
          </p:cNvPicPr>
          <p:nvPr/>
        </p:nvPicPr>
        <p:blipFill>
          <a:blip r:embed="rId3"/>
          <a:stretch>
            <a:fillRect/>
          </a:stretch>
        </p:blipFill>
        <p:spPr>
          <a:xfrm>
            <a:off x="12829924" y="7643693"/>
            <a:ext cx="1800476" cy="476316"/>
          </a:xfrm>
          <a:prstGeom prst="rect">
            <a:avLst/>
          </a:prstGeom>
        </p:spPr>
      </p:pic>
      <p:pic>
        <p:nvPicPr>
          <p:cNvPr id="21" name="Picture 20">
            <a:extLst>
              <a:ext uri="{FF2B5EF4-FFF2-40B4-BE49-F238E27FC236}">
                <a16:creationId xmlns:a16="http://schemas.microsoft.com/office/drawing/2014/main" id="{08861ECE-A5BA-A972-1207-3E6F76A842C7}"/>
              </a:ext>
            </a:extLst>
          </p:cNvPr>
          <p:cNvPicPr>
            <a:picLocks noChangeAspect="1"/>
          </p:cNvPicPr>
          <p:nvPr/>
        </p:nvPicPr>
        <p:blipFill>
          <a:blip r:embed="rId4"/>
          <a:stretch>
            <a:fillRect/>
          </a:stretch>
        </p:blipFill>
        <p:spPr>
          <a:xfrm>
            <a:off x="4853354" y="492369"/>
            <a:ext cx="7976570" cy="7455877"/>
          </a:xfrm>
          <a:prstGeom prst="rect">
            <a:avLst/>
          </a:prstGeom>
        </p:spPr>
      </p:pic>
    </p:spTree>
    <p:extLst>
      <p:ext uri="{BB962C8B-B14F-4D97-AF65-F5344CB8AC3E}">
        <p14:creationId xmlns:p14="http://schemas.microsoft.com/office/powerpoint/2010/main" val="1979622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30104" y="652224"/>
            <a:ext cx="1590794" cy="445770"/>
          </a:xfrm>
          <a:prstGeom prst="roundRect">
            <a:avLst>
              <a:gd name="adj" fmla="val 6385"/>
            </a:avLst>
          </a:prstGeom>
          <a:solidFill>
            <a:srgbClr val="E2ECDF"/>
          </a:solidFill>
          <a:ln/>
        </p:spPr>
        <p:txBody>
          <a:bodyPr/>
          <a:lstStyle/>
          <a:p>
            <a:endParaRPr lang="en-US"/>
          </a:p>
        </p:txBody>
      </p:sp>
      <p:sp>
        <p:nvSpPr>
          <p:cNvPr id="3" name="Text 1"/>
          <p:cNvSpPr/>
          <p:nvPr/>
        </p:nvSpPr>
        <p:spPr>
          <a:xfrm>
            <a:off x="972383" y="723305"/>
            <a:ext cx="1306235" cy="303609"/>
          </a:xfrm>
          <a:prstGeom prst="rect">
            <a:avLst/>
          </a:prstGeom>
          <a:noFill/>
          <a:ln/>
        </p:spPr>
        <p:txBody>
          <a:bodyPr wrap="none" lIns="0" tIns="0" rIns="0" bIns="0" rtlCol="0" anchor="t"/>
          <a:lstStyle/>
          <a:p>
            <a:pPr marL="0" indent="0" algn="l">
              <a:lnSpc>
                <a:spcPts val="2350"/>
              </a:lnSpc>
              <a:buNone/>
            </a:pPr>
            <a:r>
              <a:rPr lang="en-US" sz="1450" dirty="0">
                <a:solidFill>
                  <a:srgbClr val="3A3630"/>
                </a:solidFill>
                <a:latin typeface="Source Sans 3" pitchFamily="34" charset="0"/>
                <a:ea typeface="Source Sans 3" pitchFamily="34" charset="-122"/>
                <a:cs typeface="Source Sans 3" pitchFamily="34" charset="-120"/>
              </a:rPr>
              <a:t>PROJECT SCOPE</a:t>
            </a:r>
            <a:endParaRPr lang="en-US" sz="1450" dirty="0"/>
          </a:p>
        </p:txBody>
      </p:sp>
      <p:sp>
        <p:nvSpPr>
          <p:cNvPr id="4" name="Text 2"/>
          <p:cNvSpPr/>
          <p:nvPr/>
        </p:nvSpPr>
        <p:spPr>
          <a:xfrm>
            <a:off x="830104" y="1192768"/>
            <a:ext cx="10630257" cy="697468"/>
          </a:xfrm>
          <a:prstGeom prst="rect">
            <a:avLst/>
          </a:prstGeom>
          <a:noFill/>
          <a:ln/>
        </p:spPr>
        <p:txBody>
          <a:bodyPr wrap="none" lIns="0" tIns="0" rIns="0" bIns="0" rtlCol="0" anchor="t"/>
          <a:lstStyle/>
          <a:p>
            <a:pPr marL="0" indent="0" algn="l">
              <a:lnSpc>
                <a:spcPts val="5450"/>
              </a:lnSpc>
              <a:buNone/>
            </a:pPr>
            <a:r>
              <a:rPr lang="en-US" sz="4350" dirty="0">
                <a:solidFill>
                  <a:srgbClr val="38512F"/>
                </a:solidFill>
                <a:latin typeface="Lora" pitchFamily="34" charset="0"/>
                <a:ea typeface="Lora" pitchFamily="34" charset="-122"/>
                <a:cs typeface="Lora" pitchFamily="34" charset="-120"/>
              </a:rPr>
              <a:t>Defining the Boundaries of Our Research</a:t>
            </a:r>
            <a:endParaRPr lang="en-US" sz="4350" dirty="0"/>
          </a:p>
        </p:txBody>
      </p:sp>
      <p:sp>
        <p:nvSpPr>
          <p:cNvPr id="5" name="Text 3"/>
          <p:cNvSpPr/>
          <p:nvPr/>
        </p:nvSpPr>
        <p:spPr>
          <a:xfrm>
            <a:off x="830104" y="1985010"/>
            <a:ext cx="3348395" cy="418505"/>
          </a:xfrm>
          <a:prstGeom prst="rect">
            <a:avLst/>
          </a:prstGeom>
          <a:noFill/>
          <a:ln/>
        </p:spPr>
        <p:txBody>
          <a:bodyPr wrap="none" lIns="0" tIns="0" rIns="0" bIns="0" rtlCol="0" anchor="t"/>
          <a:lstStyle/>
          <a:p>
            <a:pPr marL="0" indent="0" algn="l">
              <a:lnSpc>
                <a:spcPts val="3250"/>
              </a:lnSpc>
              <a:buNone/>
            </a:pPr>
            <a:r>
              <a:rPr lang="en-US" sz="2600" dirty="0">
                <a:solidFill>
                  <a:srgbClr val="38512F"/>
                </a:solidFill>
                <a:latin typeface="Lora" pitchFamily="34" charset="0"/>
                <a:ea typeface="Lora" pitchFamily="34" charset="-122"/>
                <a:cs typeface="Lora" pitchFamily="34" charset="-120"/>
              </a:rPr>
              <a:t>Included in Scope:</a:t>
            </a:r>
            <a:endParaRPr lang="en-US" sz="2600" dirty="0"/>
          </a:p>
        </p:txBody>
      </p:sp>
      <p:sp>
        <p:nvSpPr>
          <p:cNvPr id="6" name="Shape 4"/>
          <p:cNvSpPr/>
          <p:nvPr/>
        </p:nvSpPr>
        <p:spPr>
          <a:xfrm>
            <a:off x="830104" y="2889647"/>
            <a:ext cx="118586" cy="118586"/>
          </a:xfrm>
          <a:prstGeom prst="roundRect">
            <a:avLst>
              <a:gd name="adj" fmla="val 385543"/>
            </a:avLst>
          </a:prstGeom>
          <a:solidFill>
            <a:srgbClr val="38512F"/>
          </a:solidFill>
          <a:ln/>
        </p:spPr>
        <p:txBody>
          <a:bodyPr/>
          <a:lstStyle/>
          <a:p>
            <a:endParaRPr lang="en-US"/>
          </a:p>
        </p:txBody>
      </p:sp>
      <p:sp>
        <p:nvSpPr>
          <p:cNvPr id="7" name="Text 5"/>
          <p:cNvSpPr/>
          <p:nvPr/>
        </p:nvSpPr>
        <p:spPr>
          <a:xfrm>
            <a:off x="1185863" y="2759273"/>
            <a:ext cx="12614434" cy="379452"/>
          </a:xfrm>
          <a:prstGeom prst="rect">
            <a:avLst/>
          </a:prstGeom>
          <a:noFill/>
          <a:ln/>
        </p:spPr>
        <p:txBody>
          <a:bodyPr wrap="non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Development of a Python-based 5G QoS routing simulator.</a:t>
            </a:r>
            <a:endParaRPr lang="en-US" sz="1850" dirty="0"/>
          </a:p>
        </p:txBody>
      </p:sp>
      <p:sp>
        <p:nvSpPr>
          <p:cNvPr id="8" name="Shape 6"/>
          <p:cNvSpPr/>
          <p:nvPr/>
        </p:nvSpPr>
        <p:spPr>
          <a:xfrm>
            <a:off x="830104" y="3743444"/>
            <a:ext cx="118586" cy="118586"/>
          </a:xfrm>
          <a:prstGeom prst="roundRect">
            <a:avLst>
              <a:gd name="adj" fmla="val 385543"/>
            </a:avLst>
          </a:prstGeom>
          <a:solidFill>
            <a:srgbClr val="38512F"/>
          </a:solidFill>
          <a:ln/>
        </p:spPr>
        <p:txBody>
          <a:bodyPr/>
          <a:lstStyle/>
          <a:p>
            <a:endParaRPr lang="en-US"/>
          </a:p>
        </p:txBody>
      </p:sp>
      <p:sp>
        <p:nvSpPr>
          <p:cNvPr id="9" name="Text 7"/>
          <p:cNvSpPr/>
          <p:nvPr/>
        </p:nvSpPr>
        <p:spPr>
          <a:xfrm>
            <a:off x="1185863" y="3613071"/>
            <a:ext cx="12614434" cy="379452"/>
          </a:xfrm>
          <a:prstGeom prst="rect">
            <a:avLst/>
          </a:prstGeom>
          <a:noFill/>
          <a:ln/>
        </p:spPr>
        <p:txBody>
          <a:bodyPr wrap="non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Comprehensive traffic behaviour analysis mechanisms.</a:t>
            </a:r>
            <a:endParaRPr lang="en-US" sz="1850" dirty="0"/>
          </a:p>
        </p:txBody>
      </p:sp>
      <p:sp>
        <p:nvSpPr>
          <p:cNvPr id="10" name="Shape 8"/>
          <p:cNvSpPr/>
          <p:nvPr/>
        </p:nvSpPr>
        <p:spPr>
          <a:xfrm>
            <a:off x="830104" y="4597241"/>
            <a:ext cx="118586" cy="118586"/>
          </a:xfrm>
          <a:prstGeom prst="roundRect">
            <a:avLst>
              <a:gd name="adj" fmla="val 385543"/>
            </a:avLst>
          </a:prstGeom>
          <a:solidFill>
            <a:srgbClr val="38512F"/>
          </a:solidFill>
          <a:ln/>
        </p:spPr>
        <p:txBody>
          <a:bodyPr/>
          <a:lstStyle/>
          <a:p>
            <a:endParaRPr lang="en-US"/>
          </a:p>
        </p:txBody>
      </p:sp>
      <p:sp>
        <p:nvSpPr>
          <p:cNvPr id="11" name="Text 9"/>
          <p:cNvSpPr/>
          <p:nvPr/>
        </p:nvSpPr>
        <p:spPr>
          <a:xfrm>
            <a:off x="1185863" y="4466868"/>
            <a:ext cx="12614434" cy="379452"/>
          </a:xfrm>
          <a:prstGeom prst="rect">
            <a:avLst/>
          </a:prstGeom>
          <a:noFill/>
          <a:ln/>
        </p:spPr>
        <p:txBody>
          <a:bodyPr wrap="non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Design of anomaly-aware routing logic.</a:t>
            </a:r>
            <a:endParaRPr lang="en-US" sz="1850" dirty="0"/>
          </a:p>
        </p:txBody>
      </p:sp>
      <p:sp>
        <p:nvSpPr>
          <p:cNvPr id="12" name="Shape 10"/>
          <p:cNvSpPr/>
          <p:nvPr/>
        </p:nvSpPr>
        <p:spPr>
          <a:xfrm>
            <a:off x="830104" y="5451038"/>
            <a:ext cx="118586" cy="118586"/>
          </a:xfrm>
          <a:prstGeom prst="roundRect">
            <a:avLst>
              <a:gd name="adj" fmla="val 385543"/>
            </a:avLst>
          </a:prstGeom>
          <a:solidFill>
            <a:srgbClr val="38512F"/>
          </a:solidFill>
          <a:ln/>
        </p:spPr>
        <p:txBody>
          <a:bodyPr/>
          <a:lstStyle/>
          <a:p>
            <a:endParaRPr lang="en-US"/>
          </a:p>
        </p:txBody>
      </p:sp>
      <p:sp>
        <p:nvSpPr>
          <p:cNvPr id="13" name="Text 11"/>
          <p:cNvSpPr/>
          <p:nvPr/>
        </p:nvSpPr>
        <p:spPr>
          <a:xfrm>
            <a:off x="1185863" y="5320665"/>
            <a:ext cx="12614434" cy="379452"/>
          </a:xfrm>
          <a:prstGeom prst="rect">
            <a:avLst/>
          </a:prstGeom>
          <a:noFill/>
          <a:ln/>
        </p:spPr>
        <p:txBody>
          <a:bodyPr wrap="non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Development of a federated learning-based model for anomaly detection.</a:t>
            </a:r>
            <a:endParaRPr lang="en-US" sz="1850" dirty="0"/>
          </a:p>
        </p:txBody>
      </p:sp>
      <p:sp>
        <p:nvSpPr>
          <p:cNvPr id="14" name="Shape 12"/>
          <p:cNvSpPr/>
          <p:nvPr/>
        </p:nvSpPr>
        <p:spPr>
          <a:xfrm>
            <a:off x="830104" y="6304836"/>
            <a:ext cx="118586" cy="118586"/>
          </a:xfrm>
          <a:prstGeom prst="roundRect">
            <a:avLst>
              <a:gd name="adj" fmla="val 385543"/>
            </a:avLst>
          </a:prstGeom>
          <a:solidFill>
            <a:srgbClr val="38512F"/>
          </a:solidFill>
          <a:ln/>
        </p:spPr>
        <p:txBody>
          <a:bodyPr/>
          <a:lstStyle/>
          <a:p>
            <a:endParaRPr lang="en-US"/>
          </a:p>
        </p:txBody>
      </p:sp>
      <p:sp>
        <p:nvSpPr>
          <p:cNvPr id="15" name="Text 13"/>
          <p:cNvSpPr/>
          <p:nvPr/>
        </p:nvSpPr>
        <p:spPr>
          <a:xfrm>
            <a:off x="1185863" y="6174462"/>
            <a:ext cx="12614434" cy="379452"/>
          </a:xfrm>
          <a:prstGeom prst="rect">
            <a:avLst/>
          </a:prstGeom>
          <a:noFill/>
          <a:ln/>
        </p:spPr>
        <p:txBody>
          <a:bodyPr wrap="non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Performance evaluation using key QoS metrics (latency, throughput, reliability).</a:t>
            </a:r>
            <a:endParaRPr lang="en-US" sz="1850" dirty="0"/>
          </a:p>
        </p:txBody>
      </p:sp>
      <p:sp>
        <p:nvSpPr>
          <p:cNvPr id="16" name="Text 14"/>
          <p:cNvSpPr/>
          <p:nvPr/>
        </p:nvSpPr>
        <p:spPr>
          <a:xfrm>
            <a:off x="830104" y="6820733"/>
            <a:ext cx="12970193" cy="758904"/>
          </a:xfrm>
          <a:prstGeom prst="rect">
            <a:avLst/>
          </a:prstGeom>
          <a:noFill/>
          <a:ln/>
        </p:spPr>
        <p:txBody>
          <a:bodyPr wrap="square" lIns="0" tIns="0" rIns="0" bIns="0" rtlCol="0" anchor="t"/>
          <a:lstStyle/>
          <a:p>
            <a:pPr marL="0" indent="0" algn="l">
              <a:lnSpc>
                <a:spcPts val="2950"/>
              </a:lnSpc>
              <a:buNone/>
            </a:pPr>
            <a:r>
              <a:rPr lang="en-US" sz="1850" dirty="0">
                <a:solidFill>
                  <a:srgbClr val="3A3630"/>
                </a:solidFill>
                <a:latin typeface="Source Sans 3" pitchFamily="34" charset="0"/>
                <a:ea typeface="Source Sans 3" pitchFamily="34" charset="-122"/>
                <a:cs typeface="Source Sans 3" pitchFamily="34" charset="-120"/>
              </a:rPr>
              <a:t>This defined scope ensures that our efforts are concentrated on the core problem of anomaly-aware QoS routing through federated learning within a simulated environment, allowing for focused and effective development.</a:t>
            </a:r>
            <a:endParaRPr lang="en-US" sz="1850" dirty="0"/>
          </a:p>
        </p:txBody>
      </p:sp>
      <p:pic>
        <p:nvPicPr>
          <p:cNvPr id="18" name="Picture 17">
            <a:extLst>
              <a:ext uri="{FF2B5EF4-FFF2-40B4-BE49-F238E27FC236}">
                <a16:creationId xmlns:a16="http://schemas.microsoft.com/office/drawing/2014/main" id="{ECAA438F-ADFD-3971-D0A4-A299782458F6}"/>
              </a:ext>
            </a:extLst>
          </p:cNvPr>
          <p:cNvPicPr>
            <a:picLocks noChangeAspect="1"/>
          </p:cNvPicPr>
          <p:nvPr/>
        </p:nvPicPr>
        <p:blipFill>
          <a:blip r:embed="rId3"/>
          <a:stretch>
            <a:fillRect/>
          </a:stretch>
        </p:blipFill>
        <p:spPr>
          <a:xfrm>
            <a:off x="12829924" y="7764808"/>
            <a:ext cx="1800476" cy="4763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332202" y="369213"/>
            <a:ext cx="866418" cy="251460"/>
          </a:xfrm>
          <a:prstGeom prst="roundRect">
            <a:avLst>
              <a:gd name="adj" fmla="val 6386"/>
            </a:avLst>
          </a:prstGeom>
          <a:solidFill>
            <a:srgbClr val="E2ECDF"/>
          </a:solidFill>
          <a:ln/>
        </p:spPr>
        <p:txBody>
          <a:bodyPr/>
          <a:lstStyle/>
          <a:p>
            <a:endParaRPr lang="en-US"/>
          </a:p>
        </p:txBody>
      </p:sp>
      <p:sp>
        <p:nvSpPr>
          <p:cNvPr id="3" name="Text 1"/>
          <p:cNvSpPr/>
          <p:nvPr/>
        </p:nvSpPr>
        <p:spPr>
          <a:xfrm>
            <a:off x="3412450" y="409337"/>
            <a:ext cx="705922" cy="171212"/>
          </a:xfrm>
          <a:prstGeom prst="rect">
            <a:avLst/>
          </a:prstGeom>
          <a:noFill/>
          <a:ln/>
        </p:spPr>
        <p:txBody>
          <a:bodyPr wrap="none" lIns="0" tIns="0" rIns="0" bIns="0" rtlCol="0" anchor="t"/>
          <a:lstStyle/>
          <a:p>
            <a:pPr marL="0" indent="0" algn="l">
              <a:lnSpc>
                <a:spcPts val="1300"/>
              </a:lnSpc>
              <a:buNone/>
            </a:pPr>
            <a:r>
              <a:rPr lang="en-US" sz="800" dirty="0">
                <a:solidFill>
                  <a:srgbClr val="3A3630"/>
                </a:solidFill>
                <a:latin typeface="Source Sans 3" pitchFamily="34" charset="0"/>
                <a:ea typeface="Source Sans 3" pitchFamily="34" charset="-122"/>
                <a:cs typeface="Source Sans 3" pitchFamily="34" charset="-120"/>
              </a:rPr>
              <a:t>METHODOLOGY</a:t>
            </a:r>
            <a:endParaRPr lang="en-US" sz="800" dirty="0"/>
          </a:p>
        </p:txBody>
      </p:sp>
      <p:sp>
        <p:nvSpPr>
          <p:cNvPr id="4" name="Text 2"/>
          <p:cNvSpPr/>
          <p:nvPr/>
        </p:nvSpPr>
        <p:spPr>
          <a:xfrm>
            <a:off x="3332202" y="674132"/>
            <a:ext cx="7965877" cy="787003"/>
          </a:xfrm>
          <a:prstGeom prst="rect">
            <a:avLst/>
          </a:prstGeom>
          <a:noFill/>
          <a:ln/>
        </p:spPr>
        <p:txBody>
          <a:bodyPr wrap="square" lIns="0" tIns="0" rIns="0" bIns="0" rtlCol="0" anchor="t"/>
          <a:lstStyle/>
          <a:p>
            <a:pPr marL="0" indent="0" algn="l">
              <a:lnSpc>
                <a:spcPts val="3050"/>
              </a:lnSpc>
              <a:buNone/>
            </a:pPr>
            <a:r>
              <a:rPr lang="en-US" sz="2450" dirty="0">
                <a:solidFill>
                  <a:srgbClr val="38512F"/>
                </a:solidFill>
                <a:latin typeface="Lora" pitchFamily="34" charset="0"/>
                <a:ea typeface="Lora" pitchFamily="34" charset="-122"/>
                <a:cs typeface="Lora" pitchFamily="34" charset="-120"/>
              </a:rPr>
              <a:t>Our Step-by-Step Approach to Anomaly-Aware QoS Routing</a:t>
            </a:r>
            <a:endParaRPr lang="en-US" sz="2450" dirty="0"/>
          </a:p>
        </p:txBody>
      </p:sp>
      <p:pic>
        <p:nvPicPr>
          <p:cNvPr id="5" name="Image 0" descr="preencoded.png"/>
          <p:cNvPicPr>
            <a:picLocks noChangeAspect="1"/>
          </p:cNvPicPr>
          <p:nvPr/>
        </p:nvPicPr>
        <p:blipFill>
          <a:blip r:embed="rId3"/>
          <a:stretch>
            <a:fillRect/>
          </a:stretch>
        </p:blipFill>
        <p:spPr>
          <a:xfrm>
            <a:off x="3332202" y="1661755"/>
            <a:ext cx="669012" cy="802838"/>
          </a:xfrm>
          <a:prstGeom prst="rect">
            <a:avLst/>
          </a:prstGeom>
        </p:spPr>
      </p:pic>
      <p:sp>
        <p:nvSpPr>
          <p:cNvPr id="6" name="Text 3"/>
          <p:cNvSpPr/>
          <p:nvPr/>
        </p:nvSpPr>
        <p:spPr>
          <a:xfrm>
            <a:off x="4134922" y="1795463"/>
            <a:ext cx="1574244" cy="196691"/>
          </a:xfrm>
          <a:prstGeom prst="rect">
            <a:avLst/>
          </a:prstGeom>
          <a:noFill/>
          <a:ln/>
        </p:spPr>
        <p:txBody>
          <a:bodyPr wrap="none" lIns="0" tIns="0" rIns="0" bIns="0" rtlCol="0" anchor="t"/>
          <a:lstStyle/>
          <a:p>
            <a:pPr marL="0" indent="0" algn="l">
              <a:lnSpc>
                <a:spcPts val="1500"/>
              </a:lnSpc>
              <a:buNone/>
            </a:pPr>
            <a:r>
              <a:rPr lang="en-US" sz="1200" dirty="0">
                <a:solidFill>
                  <a:srgbClr val="3A3630"/>
                </a:solidFill>
                <a:latin typeface="Lora" pitchFamily="34" charset="0"/>
                <a:ea typeface="Lora" pitchFamily="34" charset="-122"/>
                <a:cs typeface="Lora" pitchFamily="34" charset="-120"/>
              </a:rPr>
              <a:t>Network Simulation</a:t>
            </a:r>
            <a:endParaRPr lang="en-US" sz="1200" dirty="0"/>
          </a:p>
        </p:txBody>
      </p:sp>
      <p:sp>
        <p:nvSpPr>
          <p:cNvPr id="7" name="Text 4"/>
          <p:cNvSpPr/>
          <p:nvPr/>
        </p:nvSpPr>
        <p:spPr>
          <a:xfrm>
            <a:off x="4134922" y="2072402"/>
            <a:ext cx="7163157" cy="214074"/>
          </a:xfrm>
          <a:prstGeom prst="rect">
            <a:avLst/>
          </a:prstGeom>
          <a:noFill/>
          <a:ln/>
        </p:spPr>
        <p:txBody>
          <a:bodyPr wrap="non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Simulate various 5G network and diverse traffic scenarios to establish a realistic testing environment.</a:t>
            </a:r>
            <a:endParaRPr lang="en-US" sz="1050" dirty="0"/>
          </a:p>
        </p:txBody>
      </p:sp>
      <p:pic>
        <p:nvPicPr>
          <p:cNvPr id="8" name="Image 1" descr="preencoded.png"/>
          <p:cNvPicPr>
            <a:picLocks noChangeAspect="1"/>
          </p:cNvPicPr>
          <p:nvPr/>
        </p:nvPicPr>
        <p:blipFill>
          <a:blip r:embed="rId4"/>
          <a:stretch>
            <a:fillRect/>
          </a:stretch>
        </p:blipFill>
        <p:spPr>
          <a:xfrm>
            <a:off x="3332202" y="2464594"/>
            <a:ext cx="669012" cy="802838"/>
          </a:xfrm>
          <a:prstGeom prst="rect">
            <a:avLst/>
          </a:prstGeom>
        </p:spPr>
      </p:pic>
      <p:sp>
        <p:nvSpPr>
          <p:cNvPr id="9" name="Text 5"/>
          <p:cNvSpPr/>
          <p:nvPr/>
        </p:nvSpPr>
        <p:spPr>
          <a:xfrm>
            <a:off x="4134922" y="2598301"/>
            <a:ext cx="1574244" cy="196691"/>
          </a:xfrm>
          <a:prstGeom prst="rect">
            <a:avLst/>
          </a:prstGeom>
          <a:noFill/>
          <a:ln/>
        </p:spPr>
        <p:txBody>
          <a:bodyPr wrap="none" lIns="0" tIns="0" rIns="0" bIns="0" rtlCol="0" anchor="t"/>
          <a:lstStyle/>
          <a:p>
            <a:pPr marL="0" indent="0" algn="l">
              <a:lnSpc>
                <a:spcPts val="1500"/>
              </a:lnSpc>
              <a:buNone/>
            </a:pPr>
            <a:r>
              <a:rPr lang="en-US" sz="1200" dirty="0">
                <a:solidFill>
                  <a:srgbClr val="3A3630"/>
                </a:solidFill>
                <a:latin typeface="Lora" pitchFamily="34" charset="0"/>
                <a:ea typeface="Lora" pitchFamily="34" charset="-122"/>
                <a:cs typeface="Lora" pitchFamily="34" charset="-120"/>
              </a:rPr>
              <a:t>Data Collection</a:t>
            </a:r>
            <a:endParaRPr lang="en-US" sz="1200" dirty="0"/>
          </a:p>
        </p:txBody>
      </p:sp>
      <p:sp>
        <p:nvSpPr>
          <p:cNvPr id="10" name="Text 6"/>
          <p:cNvSpPr/>
          <p:nvPr/>
        </p:nvSpPr>
        <p:spPr>
          <a:xfrm>
            <a:off x="4134922" y="2875240"/>
            <a:ext cx="7163157" cy="214074"/>
          </a:xfrm>
          <a:prstGeom prst="rect">
            <a:avLst/>
          </a:prstGeom>
          <a:noFill/>
          <a:ln/>
        </p:spPr>
        <p:txBody>
          <a:bodyPr wrap="non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Collect detailed traffic statistics from each base station to form the dataset for model training.</a:t>
            </a:r>
            <a:endParaRPr lang="en-US" sz="1050" dirty="0"/>
          </a:p>
        </p:txBody>
      </p:sp>
      <p:pic>
        <p:nvPicPr>
          <p:cNvPr id="11" name="Image 2" descr="preencoded.png"/>
          <p:cNvPicPr>
            <a:picLocks noChangeAspect="1"/>
          </p:cNvPicPr>
          <p:nvPr/>
        </p:nvPicPr>
        <p:blipFill>
          <a:blip r:embed="rId5"/>
          <a:stretch>
            <a:fillRect/>
          </a:stretch>
        </p:blipFill>
        <p:spPr>
          <a:xfrm>
            <a:off x="3332202" y="3267432"/>
            <a:ext cx="669012" cy="802838"/>
          </a:xfrm>
          <a:prstGeom prst="rect">
            <a:avLst/>
          </a:prstGeom>
        </p:spPr>
      </p:pic>
      <p:sp>
        <p:nvSpPr>
          <p:cNvPr id="12" name="Text 7"/>
          <p:cNvSpPr/>
          <p:nvPr/>
        </p:nvSpPr>
        <p:spPr>
          <a:xfrm>
            <a:off x="4134922" y="3401139"/>
            <a:ext cx="1574244" cy="196691"/>
          </a:xfrm>
          <a:prstGeom prst="rect">
            <a:avLst/>
          </a:prstGeom>
          <a:noFill/>
          <a:ln/>
        </p:spPr>
        <p:txBody>
          <a:bodyPr wrap="none" lIns="0" tIns="0" rIns="0" bIns="0" rtlCol="0" anchor="t"/>
          <a:lstStyle/>
          <a:p>
            <a:pPr marL="0" indent="0" algn="l">
              <a:lnSpc>
                <a:spcPts val="1500"/>
              </a:lnSpc>
              <a:buNone/>
            </a:pPr>
            <a:r>
              <a:rPr lang="en-US" sz="1200" dirty="0">
                <a:solidFill>
                  <a:srgbClr val="3A3630"/>
                </a:solidFill>
                <a:latin typeface="Lora" pitchFamily="34" charset="0"/>
                <a:ea typeface="Lora" pitchFamily="34" charset="-122"/>
                <a:cs typeface="Lora" pitchFamily="34" charset="-120"/>
              </a:rPr>
              <a:t>Local Model Training</a:t>
            </a:r>
            <a:endParaRPr lang="en-US" sz="1200" dirty="0"/>
          </a:p>
        </p:txBody>
      </p:sp>
      <p:sp>
        <p:nvSpPr>
          <p:cNvPr id="13" name="Text 8"/>
          <p:cNvSpPr/>
          <p:nvPr/>
        </p:nvSpPr>
        <p:spPr>
          <a:xfrm>
            <a:off x="4134922" y="3678079"/>
            <a:ext cx="7163157" cy="214074"/>
          </a:xfrm>
          <a:prstGeom prst="rect">
            <a:avLst/>
          </a:prstGeom>
          <a:noFill/>
          <a:ln/>
        </p:spPr>
        <p:txBody>
          <a:bodyPr wrap="non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Train local anomaly detection models at each base station, preserving data privacy.</a:t>
            </a:r>
            <a:endParaRPr lang="en-US" sz="1050" dirty="0"/>
          </a:p>
        </p:txBody>
      </p:sp>
      <p:pic>
        <p:nvPicPr>
          <p:cNvPr id="14" name="Image 3" descr="preencoded.png"/>
          <p:cNvPicPr>
            <a:picLocks noChangeAspect="1"/>
          </p:cNvPicPr>
          <p:nvPr/>
        </p:nvPicPr>
        <p:blipFill>
          <a:blip r:embed="rId6"/>
          <a:stretch>
            <a:fillRect/>
          </a:stretch>
        </p:blipFill>
        <p:spPr>
          <a:xfrm>
            <a:off x="3332202" y="4070271"/>
            <a:ext cx="669012" cy="802838"/>
          </a:xfrm>
          <a:prstGeom prst="rect">
            <a:avLst/>
          </a:prstGeom>
        </p:spPr>
      </p:pic>
      <p:sp>
        <p:nvSpPr>
          <p:cNvPr id="15" name="Text 9"/>
          <p:cNvSpPr/>
          <p:nvPr/>
        </p:nvSpPr>
        <p:spPr>
          <a:xfrm>
            <a:off x="4134922" y="4203978"/>
            <a:ext cx="1660922" cy="196691"/>
          </a:xfrm>
          <a:prstGeom prst="rect">
            <a:avLst/>
          </a:prstGeom>
          <a:noFill/>
          <a:ln/>
        </p:spPr>
        <p:txBody>
          <a:bodyPr wrap="none" lIns="0" tIns="0" rIns="0" bIns="0" rtlCol="0" anchor="t"/>
          <a:lstStyle/>
          <a:p>
            <a:pPr marL="0" indent="0" algn="l">
              <a:lnSpc>
                <a:spcPts val="1500"/>
              </a:lnSpc>
              <a:buNone/>
            </a:pPr>
            <a:r>
              <a:rPr lang="en-US" sz="1200" dirty="0">
                <a:solidFill>
                  <a:srgbClr val="3A3630"/>
                </a:solidFill>
                <a:latin typeface="Lora" pitchFamily="34" charset="0"/>
                <a:ea typeface="Lora" pitchFamily="34" charset="-122"/>
                <a:cs typeface="Lora" pitchFamily="34" charset="-120"/>
              </a:rPr>
              <a:t>Federated Aggregation</a:t>
            </a:r>
            <a:endParaRPr lang="en-US" sz="1200" dirty="0"/>
          </a:p>
        </p:txBody>
      </p:sp>
      <p:sp>
        <p:nvSpPr>
          <p:cNvPr id="16" name="Text 10"/>
          <p:cNvSpPr/>
          <p:nvPr/>
        </p:nvSpPr>
        <p:spPr>
          <a:xfrm>
            <a:off x="4134922" y="4480917"/>
            <a:ext cx="7163157" cy="214074"/>
          </a:xfrm>
          <a:prstGeom prst="rect">
            <a:avLst/>
          </a:prstGeom>
          <a:noFill/>
          <a:ln/>
        </p:spPr>
        <p:txBody>
          <a:bodyPr wrap="non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Aggregate local models using Federated Learning to create a robust global anomaly detection model.</a:t>
            </a:r>
            <a:endParaRPr lang="en-US" sz="1050" dirty="0"/>
          </a:p>
        </p:txBody>
      </p:sp>
      <p:pic>
        <p:nvPicPr>
          <p:cNvPr id="17" name="Image 4" descr="preencoded.png"/>
          <p:cNvPicPr>
            <a:picLocks noChangeAspect="1"/>
          </p:cNvPicPr>
          <p:nvPr/>
        </p:nvPicPr>
        <p:blipFill>
          <a:blip r:embed="rId7"/>
          <a:stretch>
            <a:fillRect/>
          </a:stretch>
        </p:blipFill>
        <p:spPr>
          <a:xfrm>
            <a:off x="3332202" y="4873109"/>
            <a:ext cx="669012" cy="802838"/>
          </a:xfrm>
          <a:prstGeom prst="rect">
            <a:avLst/>
          </a:prstGeom>
        </p:spPr>
      </p:pic>
      <p:sp>
        <p:nvSpPr>
          <p:cNvPr id="18" name="Text 11"/>
          <p:cNvSpPr/>
          <p:nvPr/>
        </p:nvSpPr>
        <p:spPr>
          <a:xfrm>
            <a:off x="4134922" y="5006816"/>
            <a:ext cx="1574244" cy="196691"/>
          </a:xfrm>
          <a:prstGeom prst="rect">
            <a:avLst/>
          </a:prstGeom>
          <a:noFill/>
          <a:ln/>
        </p:spPr>
        <p:txBody>
          <a:bodyPr wrap="none" lIns="0" tIns="0" rIns="0" bIns="0" rtlCol="0" anchor="t"/>
          <a:lstStyle/>
          <a:p>
            <a:pPr marL="0" indent="0" algn="l">
              <a:lnSpc>
                <a:spcPts val="1500"/>
              </a:lnSpc>
              <a:buNone/>
            </a:pPr>
            <a:r>
              <a:rPr lang="en-US" sz="1200" dirty="0">
                <a:solidFill>
                  <a:srgbClr val="3A3630"/>
                </a:solidFill>
                <a:latin typeface="Lora" pitchFamily="34" charset="0"/>
                <a:ea typeface="Lora" pitchFamily="34" charset="-122"/>
                <a:cs typeface="Lora" pitchFamily="34" charset="-120"/>
              </a:rPr>
              <a:t>Traffic Classification</a:t>
            </a:r>
            <a:endParaRPr lang="en-US" sz="1200" dirty="0"/>
          </a:p>
        </p:txBody>
      </p:sp>
      <p:sp>
        <p:nvSpPr>
          <p:cNvPr id="19" name="Text 12"/>
          <p:cNvSpPr/>
          <p:nvPr/>
        </p:nvSpPr>
        <p:spPr>
          <a:xfrm>
            <a:off x="4134922" y="5283756"/>
            <a:ext cx="7163157" cy="214074"/>
          </a:xfrm>
          <a:prstGeom prst="rect">
            <a:avLst/>
          </a:prstGeom>
          <a:noFill/>
          <a:ln/>
        </p:spPr>
        <p:txBody>
          <a:bodyPr wrap="non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Classify traffic behaviour into 'normal,' 'suspicious,' or 'malicious-like' categories.</a:t>
            </a:r>
            <a:endParaRPr lang="en-US" sz="1050" dirty="0"/>
          </a:p>
        </p:txBody>
      </p:sp>
      <p:pic>
        <p:nvPicPr>
          <p:cNvPr id="20" name="Image 5" descr="preencoded.png"/>
          <p:cNvPicPr>
            <a:picLocks noChangeAspect="1"/>
          </p:cNvPicPr>
          <p:nvPr/>
        </p:nvPicPr>
        <p:blipFill>
          <a:blip r:embed="rId8"/>
          <a:stretch>
            <a:fillRect/>
          </a:stretch>
        </p:blipFill>
        <p:spPr>
          <a:xfrm>
            <a:off x="3332202" y="5675948"/>
            <a:ext cx="669012" cy="802838"/>
          </a:xfrm>
          <a:prstGeom prst="rect">
            <a:avLst/>
          </a:prstGeom>
        </p:spPr>
      </p:pic>
      <p:sp>
        <p:nvSpPr>
          <p:cNvPr id="21" name="Text 13"/>
          <p:cNvSpPr/>
          <p:nvPr/>
        </p:nvSpPr>
        <p:spPr>
          <a:xfrm>
            <a:off x="4134922" y="5809655"/>
            <a:ext cx="1574244" cy="196691"/>
          </a:xfrm>
          <a:prstGeom prst="rect">
            <a:avLst/>
          </a:prstGeom>
          <a:noFill/>
          <a:ln/>
        </p:spPr>
        <p:txBody>
          <a:bodyPr wrap="none" lIns="0" tIns="0" rIns="0" bIns="0" rtlCol="0" anchor="t"/>
          <a:lstStyle/>
          <a:p>
            <a:pPr marL="0" indent="0" algn="l">
              <a:lnSpc>
                <a:spcPts val="1500"/>
              </a:lnSpc>
              <a:buNone/>
            </a:pPr>
            <a:r>
              <a:rPr lang="en-US" sz="1200" dirty="0">
                <a:solidFill>
                  <a:srgbClr val="3A3630"/>
                </a:solidFill>
                <a:latin typeface="Lora" pitchFamily="34" charset="0"/>
                <a:ea typeface="Lora" pitchFamily="34" charset="-122"/>
                <a:cs typeface="Lora" pitchFamily="34" charset="-120"/>
              </a:rPr>
              <a:t>Routing Adaptation</a:t>
            </a:r>
            <a:endParaRPr lang="en-US" sz="1200" dirty="0"/>
          </a:p>
        </p:txBody>
      </p:sp>
      <p:sp>
        <p:nvSpPr>
          <p:cNvPr id="22" name="Text 14"/>
          <p:cNvSpPr/>
          <p:nvPr/>
        </p:nvSpPr>
        <p:spPr>
          <a:xfrm>
            <a:off x="4134922" y="6086594"/>
            <a:ext cx="7163157" cy="214074"/>
          </a:xfrm>
          <a:prstGeom prst="rect">
            <a:avLst/>
          </a:prstGeom>
          <a:noFill/>
          <a:ln/>
        </p:spPr>
        <p:txBody>
          <a:bodyPr wrap="non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Dynamically adapt QoS routing decisions based on the classified traffic behaviour.</a:t>
            </a:r>
            <a:endParaRPr lang="en-US" sz="1050" dirty="0"/>
          </a:p>
        </p:txBody>
      </p:sp>
      <p:pic>
        <p:nvPicPr>
          <p:cNvPr id="23" name="Image 6" descr="preencoded.png"/>
          <p:cNvPicPr>
            <a:picLocks noChangeAspect="1"/>
          </p:cNvPicPr>
          <p:nvPr/>
        </p:nvPicPr>
        <p:blipFill>
          <a:blip r:embed="rId9"/>
          <a:stretch>
            <a:fillRect/>
          </a:stretch>
        </p:blipFill>
        <p:spPr>
          <a:xfrm>
            <a:off x="3332202" y="6478786"/>
            <a:ext cx="669012" cy="802838"/>
          </a:xfrm>
          <a:prstGeom prst="rect">
            <a:avLst/>
          </a:prstGeom>
        </p:spPr>
      </p:pic>
      <p:sp>
        <p:nvSpPr>
          <p:cNvPr id="24" name="Text 15"/>
          <p:cNvSpPr/>
          <p:nvPr/>
        </p:nvSpPr>
        <p:spPr>
          <a:xfrm>
            <a:off x="4134922" y="6612493"/>
            <a:ext cx="1752362" cy="196691"/>
          </a:xfrm>
          <a:prstGeom prst="rect">
            <a:avLst/>
          </a:prstGeom>
          <a:noFill/>
          <a:ln/>
        </p:spPr>
        <p:txBody>
          <a:bodyPr wrap="none" lIns="0" tIns="0" rIns="0" bIns="0" rtlCol="0" anchor="t"/>
          <a:lstStyle/>
          <a:p>
            <a:pPr marL="0" indent="0" algn="l">
              <a:lnSpc>
                <a:spcPts val="1500"/>
              </a:lnSpc>
              <a:buNone/>
            </a:pPr>
            <a:r>
              <a:rPr lang="en-US" sz="1200" dirty="0">
                <a:solidFill>
                  <a:srgbClr val="3A3630"/>
                </a:solidFill>
                <a:latin typeface="Lora" pitchFamily="34" charset="0"/>
                <a:ea typeface="Lora" pitchFamily="34" charset="-122"/>
                <a:cs typeface="Lora" pitchFamily="34" charset="-120"/>
              </a:rPr>
              <a:t>Performance Evaluation</a:t>
            </a:r>
            <a:endParaRPr lang="en-US" sz="1200" dirty="0"/>
          </a:p>
        </p:txBody>
      </p:sp>
      <p:sp>
        <p:nvSpPr>
          <p:cNvPr id="25" name="Text 16"/>
          <p:cNvSpPr/>
          <p:nvPr/>
        </p:nvSpPr>
        <p:spPr>
          <a:xfrm>
            <a:off x="4134922" y="6889433"/>
            <a:ext cx="7163157" cy="214074"/>
          </a:xfrm>
          <a:prstGeom prst="rect">
            <a:avLst/>
          </a:prstGeom>
          <a:noFill/>
          <a:ln/>
        </p:spPr>
        <p:txBody>
          <a:bodyPr wrap="non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Evaluate the framework's effectiveness using critical QoS metrics such as latency, throughput, and reliability.</a:t>
            </a:r>
            <a:endParaRPr lang="en-US" sz="1050" dirty="0"/>
          </a:p>
        </p:txBody>
      </p:sp>
      <p:sp>
        <p:nvSpPr>
          <p:cNvPr id="26" name="Text 17"/>
          <p:cNvSpPr/>
          <p:nvPr/>
        </p:nvSpPr>
        <p:spPr>
          <a:xfrm>
            <a:off x="3332202" y="7432119"/>
            <a:ext cx="7965877" cy="428149"/>
          </a:xfrm>
          <a:prstGeom prst="rect">
            <a:avLst/>
          </a:prstGeom>
          <a:noFill/>
          <a:ln/>
        </p:spPr>
        <p:txBody>
          <a:bodyPr wrap="square" lIns="0" tIns="0" rIns="0" bIns="0" rtlCol="0" anchor="t"/>
          <a:lstStyle/>
          <a:p>
            <a:pPr marL="0" indent="0" algn="l">
              <a:lnSpc>
                <a:spcPts val="1650"/>
              </a:lnSpc>
              <a:buNone/>
            </a:pPr>
            <a:r>
              <a:rPr lang="en-US" sz="1050" dirty="0">
                <a:solidFill>
                  <a:srgbClr val="3A3630"/>
                </a:solidFill>
                <a:latin typeface="Source Sans 3" pitchFamily="34" charset="0"/>
                <a:ea typeface="Source Sans 3" pitchFamily="34" charset="-122"/>
                <a:cs typeface="Source Sans 3" pitchFamily="34" charset="-120"/>
              </a:rPr>
              <a:t>This structured methodology ensures a comprehensive and systematic approach to developing and validating our anomaly-aware QoS routing framework.</a:t>
            </a:r>
            <a:endParaRPr lang="en-US" sz="1050" dirty="0"/>
          </a:p>
        </p:txBody>
      </p:sp>
      <p:pic>
        <p:nvPicPr>
          <p:cNvPr id="28" name="Picture 27">
            <a:extLst>
              <a:ext uri="{FF2B5EF4-FFF2-40B4-BE49-F238E27FC236}">
                <a16:creationId xmlns:a16="http://schemas.microsoft.com/office/drawing/2014/main" id="{830F6AE5-1AE3-D89D-527F-20ABFCE2EE07}"/>
              </a:ext>
            </a:extLst>
          </p:cNvPr>
          <p:cNvPicPr>
            <a:picLocks noChangeAspect="1"/>
          </p:cNvPicPr>
          <p:nvPr/>
        </p:nvPicPr>
        <p:blipFill>
          <a:blip r:embed="rId10"/>
          <a:stretch>
            <a:fillRect/>
          </a:stretch>
        </p:blipFill>
        <p:spPr>
          <a:xfrm>
            <a:off x="12829924" y="7753284"/>
            <a:ext cx="1800476" cy="4763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37724" y="728901"/>
            <a:ext cx="1048464" cy="449818"/>
          </a:xfrm>
          <a:prstGeom prst="roundRect">
            <a:avLst>
              <a:gd name="adj" fmla="val 6386"/>
            </a:avLst>
          </a:prstGeom>
          <a:solidFill>
            <a:srgbClr val="E2ECDF"/>
          </a:solidFill>
          <a:ln/>
        </p:spPr>
        <p:txBody>
          <a:bodyPr/>
          <a:lstStyle/>
          <a:p>
            <a:endParaRPr lang="en-US"/>
          </a:p>
        </p:txBody>
      </p:sp>
      <p:sp>
        <p:nvSpPr>
          <p:cNvPr id="3" name="Text 1"/>
          <p:cNvSpPr/>
          <p:nvPr/>
        </p:nvSpPr>
        <p:spPr>
          <a:xfrm>
            <a:off x="981313" y="800695"/>
            <a:ext cx="761286" cy="306229"/>
          </a:xfrm>
          <a:prstGeom prst="rect">
            <a:avLst/>
          </a:prstGeom>
          <a:noFill/>
          <a:ln/>
        </p:spPr>
        <p:txBody>
          <a:bodyPr wrap="non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TIMELINE</a:t>
            </a:r>
            <a:endParaRPr lang="en-US" sz="1500" dirty="0"/>
          </a:p>
        </p:txBody>
      </p:sp>
      <p:sp>
        <p:nvSpPr>
          <p:cNvPr id="4" name="Text 2"/>
          <p:cNvSpPr/>
          <p:nvPr/>
        </p:nvSpPr>
        <p:spPr>
          <a:xfrm>
            <a:off x="837724" y="1274445"/>
            <a:ext cx="8528090" cy="704017"/>
          </a:xfrm>
          <a:prstGeom prst="rect">
            <a:avLst/>
          </a:prstGeom>
          <a:noFill/>
          <a:ln/>
        </p:spPr>
        <p:txBody>
          <a:bodyPr wrap="non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Project Milestones and Schedule</a:t>
            </a:r>
            <a:endParaRPr lang="en-US" sz="4400" dirty="0"/>
          </a:p>
        </p:txBody>
      </p:sp>
      <p:sp>
        <p:nvSpPr>
          <p:cNvPr id="5" name="Shape 3"/>
          <p:cNvSpPr/>
          <p:nvPr/>
        </p:nvSpPr>
        <p:spPr>
          <a:xfrm>
            <a:off x="837724" y="2337435"/>
            <a:ext cx="12954952" cy="4127897"/>
          </a:xfrm>
          <a:prstGeom prst="roundRect">
            <a:avLst>
              <a:gd name="adj" fmla="val 870"/>
            </a:avLst>
          </a:prstGeom>
          <a:noFill/>
          <a:ln w="7620">
            <a:solidFill>
              <a:srgbClr val="000000">
                <a:alpha val="8000"/>
              </a:srgbClr>
            </a:solidFill>
            <a:prstDash val="solid"/>
          </a:ln>
        </p:spPr>
        <p:txBody>
          <a:bodyPr/>
          <a:lstStyle/>
          <a:p>
            <a:endParaRPr lang="en-US"/>
          </a:p>
        </p:txBody>
      </p:sp>
      <p:sp>
        <p:nvSpPr>
          <p:cNvPr id="6" name="Shape 4"/>
          <p:cNvSpPr/>
          <p:nvPr/>
        </p:nvSpPr>
        <p:spPr>
          <a:xfrm>
            <a:off x="845344" y="2345055"/>
            <a:ext cx="12939713" cy="685443"/>
          </a:xfrm>
          <a:prstGeom prst="rect">
            <a:avLst/>
          </a:prstGeom>
          <a:solidFill>
            <a:srgbClr val="FFFFFF">
              <a:alpha val="4000"/>
            </a:srgbClr>
          </a:solidFill>
          <a:ln/>
        </p:spPr>
        <p:txBody>
          <a:bodyPr/>
          <a:lstStyle/>
          <a:p>
            <a:endParaRPr lang="en-US"/>
          </a:p>
        </p:txBody>
      </p:sp>
      <p:sp>
        <p:nvSpPr>
          <p:cNvPr id="7" name="Text 5"/>
          <p:cNvSpPr/>
          <p:nvPr/>
        </p:nvSpPr>
        <p:spPr>
          <a:xfrm>
            <a:off x="1084659" y="2496264"/>
            <a:ext cx="2105501"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Phase 1</a:t>
            </a:r>
            <a:endParaRPr lang="en-US" sz="1850" dirty="0"/>
          </a:p>
        </p:txBody>
      </p:sp>
      <p:sp>
        <p:nvSpPr>
          <p:cNvPr id="8" name="Text 6"/>
          <p:cNvSpPr/>
          <p:nvPr/>
        </p:nvSpPr>
        <p:spPr>
          <a:xfrm>
            <a:off x="3676412" y="2496264"/>
            <a:ext cx="5983605"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QoS Routing Simulator Development</a:t>
            </a:r>
            <a:endParaRPr lang="en-US" sz="1850" dirty="0"/>
          </a:p>
        </p:txBody>
      </p:sp>
      <p:sp>
        <p:nvSpPr>
          <p:cNvPr id="9" name="Text 7"/>
          <p:cNvSpPr/>
          <p:nvPr/>
        </p:nvSpPr>
        <p:spPr>
          <a:xfrm>
            <a:off x="10146268" y="2496264"/>
            <a:ext cx="3399472"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1-2 Week</a:t>
            </a:r>
            <a:endParaRPr lang="en-US" sz="1850" dirty="0"/>
          </a:p>
        </p:txBody>
      </p:sp>
      <p:sp>
        <p:nvSpPr>
          <p:cNvPr id="10" name="Shape 8"/>
          <p:cNvSpPr/>
          <p:nvPr/>
        </p:nvSpPr>
        <p:spPr>
          <a:xfrm>
            <a:off x="845344" y="3030498"/>
            <a:ext cx="12939713" cy="685443"/>
          </a:xfrm>
          <a:prstGeom prst="rect">
            <a:avLst/>
          </a:prstGeom>
          <a:solidFill>
            <a:srgbClr val="000000">
              <a:alpha val="4000"/>
            </a:srgbClr>
          </a:solidFill>
          <a:ln/>
        </p:spPr>
        <p:txBody>
          <a:bodyPr/>
          <a:lstStyle/>
          <a:p>
            <a:endParaRPr lang="en-US"/>
          </a:p>
        </p:txBody>
      </p:sp>
      <p:sp>
        <p:nvSpPr>
          <p:cNvPr id="11" name="Text 9"/>
          <p:cNvSpPr/>
          <p:nvPr/>
        </p:nvSpPr>
        <p:spPr>
          <a:xfrm>
            <a:off x="1084659" y="3181707"/>
            <a:ext cx="2105501"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Phase 2</a:t>
            </a:r>
            <a:endParaRPr lang="en-US" sz="1850" dirty="0"/>
          </a:p>
        </p:txBody>
      </p:sp>
      <p:sp>
        <p:nvSpPr>
          <p:cNvPr id="12" name="Text 10"/>
          <p:cNvSpPr/>
          <p:nvPr/>
        </p:nvSpPr>
        <p:spPr>
          <a:xfrm>
            <a:off x="3676412" y="3181707"/>
            <a:ext cx="5983605"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Traffic Data Collection &amp; Preprocessing</a:t>
            </a:r>
            <a:endParaRPr lang="en-US" sz="1850" dirty="0"/>
          </a:p>
        </p:txBody>
      </p:sp>
      <p:sp>
        <p:nvSpPr>
          <p:cNvPr id="13" name="Text 11"/>
          <p:cNvSpPr/>
          <p:nvPr/>
        </p:nvSpPr>
        <p:spPr>
          <a:xfrm>
            <a:off x="10146268" y="3181707"/>
            <a:ext cx="3399472"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1-2 Week</a:t>
            </a:r>
            <a:endParaRPr lang="en-US" sz="1850" dirty="0"/>
          </a:p>
        </p:txBody>
      </p:sp>
      <p:sp>
        <p:nvSpPr>
          <p:cNvPr id="14" name="Shape 12"/>
          <p:cNvSpPr/>
          <p:nvPr/>
        </p:nvSpPr>
        <p:spPr>
          <a:xfrm>
            <a:off x="845344" y="3715941"/>
            <a:ext cx="12939713" cy="685443"/>
          </a:xfrm>
          <a:prstGeom prst="rect">
            <a:avLst/>
          </a:prstGeom>
          <a:solidFill>
            <a:srgbClr val="FFFFFF">
              <a:alpha val="4000"/>
            </a:srgbClr>
          </a:solidFill>
          <a:ln/>
        </p:spPr>
        <p:txBody>
          <a:bodyPr/>
          <a:lstStyle/>
          <a:p>
            <a:endParaRPr lang="en-US"/>
          </a:p>
        </p:txBody>
      </p:sp>
      <p:sp>
        <p:nvSpPr>
          <p:cNvPr id="15" name="Text 13"/>
          <p:cNvSpPr/>
          <p:nvPr/>
        </p:nvSpPr>
        <p:spPr>
          <a:xfrm>
            <a:off x="1084659" y="3867150"/>
            <a:ext cx="2105501"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Phase 3</a:t>
            </a:r>
            <a:endParaRPr lang="en-US" sz="1850" dirty="0"/>
          </a:p>
        </p:txBody>
      </p:sp>
      <p:sp>
        <p:nvSpPr>
          <p:cNvPr id="16" name="Text 14"/>
          <p:cNvSpPr/>
          <p:nvPr/>
        </p:nvSpPr>
        <p:spPr>
          <a:xfrm>
            <a:off x="3676412" y="3867150"/>
            <a:ext cx="5983605"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ML Model Development (Local Anomaly Detection)</a:t>
            </a:r>
            <a:endParaRPr lang="en-US" sz="1850" dirty="0"/>
          </a:p>
        </p:txBody>
      </p:sp>
      <p:sp>
        <p:nvSpPr>
          <p:cNvPr id="17" name="Text 15"/>
          <p:cNvSpPr/>
          <p:nvPr/>
        </p:nvSpPr>
        <p:spPr>
          <a:xfrm>
            <a:off x="10146268" y="3867150"/>
            <a:ext cx="3399472"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2-4 Week</a:t>
            </a:r>
            <a:endParaRPr lang="en-US" sz="1850" dirty="0"/>
          </a:p>
        </p:txBody>
      </p:sp>
      <p:sp>
        <p:nvSpPr>
          <p:cNvPr id="18" name="Shape 16"/>
          <p:cNvSpPr/>
          <p:nvPr/>
        </p:nvSpPr>
        <p:spPr>
          <a:xfrm>
            <a:off x="845344" y="4401383"/>
            <a:ext cx="12939713" cy="685443"/>
          </a:xfrm>
          <a:prstGeom prst="rect">
            <a:avLst/>
          </a:prstGeom>
          <a:solidFill>
            <a:srgbClr val="000000">
              <a:alpha val="4000"/>
            </a:srgbClr>
          </a:solidFill>
          <a:ln/>
        </p:spPr>
        <p:txBody>
          <a:bodyPr/>
          <a:lstStyle/>
          <a:p>
            <a:endParaRPr lang="en-US"/>
          </a:p>
        </p:txBody>
      </p:sp>
      <p:sp>
        <p:nvSpPr>
          <p:cNvPr id="19" name="Text 17"/>
          <p:cNvSpPr/>
          <p:nvPr/>
        </p:nvSpPr>
        <p:spPr>
          <a:xfrm>
            <a:off x="1084659" y="4552593"/>
            <a:ext cx="2105501"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Phase 4</a:t>
            </a:r>
            <a:endParaRPr lang="en-US" sz="1850" dirty="0"/>
          </a:p>
        </p:txBody>
      </p:sp>
      <p:sp>
        <p:nvSpPr>
          <p:cNvPr id="20" name="Text 18"/>
          <p:cNvSpPr/>
          <p:nvPr/>
        </p:nvSpPr>
        <p:spPr>
          <a:xfrm>
            <a:off x="3676412" y="4552593"/>
            <a:ext cx="5983605"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Federated Learning Integration &amp; Global Model Training</a:t>
            </a:r>
            <a:endParaRPr lang="en-US" sz="1850" dirty="0"/>
          </a:p>
        </p:txBody>
      </p:sp>
      <p:sp>
        <p:nvSpPr>
          <p:cNvPr id="21" name="Text 19"/>
          <p:cNvSpPr/>
          <p:nvPr/>
        </p:nvSpPr>
        <p:spPr>
          <a:xfrm>
            <a:off x="10146268" y="4552593"/>
            <a:ext cx="3399472"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4-6 Week</a:t>
            </a:r>
            <a:endParaRPr lang="en-US" sz="1850" dirty="0"/>
          </a:p>
        </p:txBody>
      </p:sp>
      <p:sp>
        <p:nvSpPr>
          <p:cNvPr id="22" name="Shape 20"/>
          <p:cNvSpPr/>
          <p:nvPr/>
        </p:nvSpPr>
        <p:spPr>
          <a:xfrm>
            <a:off x="845344" y="5086826"/>
            <a:ext cx="12939713" cy="685443"/>
          </a:xfrm>
          <a:prstGeom prst="rect">
            <a:avLst/>
          </a:prstGeom>
          <a:solidFill>
            <a:srgbClr val="FFFFFF">
              <a:alpha val="4000"/>
            </a:srgbClr>
          </a:solidFill>
          <a:ln/>
        </p:spPr>
        <p:txBody>
          <a:bodyPr/>
          <a:lstStyle/>
          <a:p>
            <a:endParaRPr lang="en-US"/>
          </a:p>
        </p:txBody>
      </p:sp>
      <p:sp>
        <p:nvSpPr>
          <p:cNvPr id="23" name="Text 21"/>
          <p:cNvSpPr/>
          <p:nvPr/>
        </p:nvSpPr>
        <p:spPr>
          <a:xfrm>
            <a:off x="1084659" y="5238036"/>
            <a:ext cx="2105501"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Phase 5</a:t>
            </a:r>
            <a:endParaRPr lang="en-US" sz="1850" dirty="0"/>
          </a:p>
        </p:txBody>
      </p:sp>
      <p:sp>
        <p:nvSpPr>
          <p:cNvPr id="24" name="Text 22"/>
          <p:cNvSpPr/>
          <p:nvPr/>
        </p:nvSpPr>
        <p:spPr>
          <a:xfrm>
            <a:off x="3676412" y="5238036"/>
            <a:ext cx="5983605"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Anomaly-Aware Routing Logic Implementation</a:t>
            </a:r>
            <a:endParaRPr lang="en-US" sz="1850" dirty="0"/>
          </a:p>
        </p:txBody>
      </p:sp>
      <p:sp>
        <p:nvSpPr>
          <p:cNvPr id="25" name="Text 23"/>
          <p:cNvSpPr/>
          <p:nvPr/>
        </p:nvSpPr>
        <p:spPr>
          <a:xfrm>
            <a:off x="10146268" y="5238036"/>
            <a:ext cx="3399472"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6-8 Week</a:t>
            </a:r>
            <a:endParaRPr lang="en-US" sz="1850" dirty="0"/>
          </a:p>
        </p:txBody>
      </p:sp>
      <p:sp>
        <p:nvSpPr>
          <p:cNvPr id="26" name="Shape 24"/>
          <p:cNvSpPr/>
          <p:nvPr/>
        </p:nvSpPr>
        <p:spPr>
          <a:xfrm>
            <a:off x="845344" y="5772269"/>
            <a:ext cx="12939713" cy="685443"/>
          </a:xfrm>
          <a:prstGeom prst="rect">
            <a:avLst/>
          </a:prstGeom>
          <a:solidFill>
            <a:srgbClr val="000000">
              <a:alpha val="4000"/>
            </a:srgbClr>
          </a:solidFill>
          <a:ln/>
        </p:spPr>
        <p:txBody>
          <a:bodyPr/>
          <a:lstStyle/>
          <a:p>
            <a:endParaRPr lang="en-US"/>
          </a:p>
        </p:txBody>
      </p:sp>
      <p:sp>
        <p:nvSpPr>
          <p:cNvPr id="27" name="Text 25"/>
          <p:cNvSpPr/>
          <p:nvPr/>
        </p:nvSpPr>
        <p:spPr>
          <a:xfrm>
            <a:off x="1084659" y="5923478"/>
            <a:ext cx="2105501"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Phase 6</a:t>
            </a:r>
            <a:endParaRPr lang="en-US" sz="1850" dirty="0"/>
          </a:p>
        </p:txBody>
      </p:sp>
      <p:sp>
        <p:nvSpPr>
          <p:cNvPr id="28" name="Text 26"/>
          <p:cNvSpPr/>
          <p:nvPr/>
        </p:nvSpPr>
        <p:spPr>
          <a:xfrm>
            <a:off x="3676412" y="5923478"/>
            <a:ext cx="5983605"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System Evaluation &amp; Report Preparation</a:t>
            </a:r>
            <a:endParaRPr lang="en-US" sz="1850" dirty="0"/>
          </a:p>
        </p:txBody>
      </p:sp>
      <p:sp>
        <p:nvSpPr>
          <p:cNvPr id="29" name="Text 27"/>
          <p:cNvSpPr/>
          <p:nvPr/>
        </p:nvSpPr>
        <p:spPr>
          <a:xfrm>
            <a:off x="10146268" y="5923478"/>
            <a:ext cx="3399472"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8-10 Weeks</a:t>
            </a:r>
            <a:endParaRPr lang="en-US" sz="1850" dirty="0"/>
          </a:p>
        </p:txBody>
      </p:sp>
      <p:sp>
        <p:nvSpPr>
          <p:cNvPr id="30" name="Text 28"/>
          <p:cNvSpPr/>
          <p:nvPr/>
        </p:nvSpPr>
        <p:spPr>
          <a:xfrm>
            <a:off x="837724" y="6734532"/>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Our project timeline is meticulously planned to ensure efficient progress and timely completion of each phase, leading to a robust and well-documented solution.</a:t>
            </a:r>
            <a:endParaRPr lang="en-US" sz="1850" dirty="0"/>
          </a:p>
        </p:txBody>
      </p:sp>
      <p:pic>
        <p:nvPicPr>
          <p:cNvPr id="32" name="Picture 31">
            <a:extLst>
              <a:ext uri="{FF2B5EF4-FFF2-40B4-BE49-F238E27FC236}">
                <a16:creationId xmlns:a16="http://schemas.microsoft.com/office/drawing/2014/main" id="{1FE7D802-D75B-C269-A2EE-48CFAC4EE691}"/>
              </a:ext>
            </a:extLst>
          </p:cNvPr>
          <p:cNvPicPr>
            <a:picLocks noChangeAspect="1"/>
          </p:cNvPicPr>
          <p:nvPr/>
        </p:nvPicPr>
        <p:blipFill>
          <a:blip r:embed="rId3"/>
          <a:stretch>
            <a:fillRect/>
          </a:stretch>
        </p:blipFill>
        <p:spPr>
          <a:xfrm>
            <a:off x="12829924" y="7753284"/>
            <a:ext cx="1800476" cy="4763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81182" y="595908"/>
            <a:ext cx="2076212" cy="406122"/>
          </a:xfrm>
          <a:prstGeom prst="roundRect">
            <a:avLst>
              <a:gd name="adj" fmla="val 6387"/>
            </a:avLst>
          </a:prstGeom>
          <a:solidFill>
            <a:srgbClr val="E2ECDF"/>
          </a:solidFill>
          <a:ln/>
        </p:spPr>
        <p:txBody>
          <a:bodyPr/>
          <a:lstStyle/>
          <a:p>
            <a:endParaRPr lang="en-US"/>
          </a:p>
        </p:txBody>
      </p:sp>
      <p:sp>
        <p:nvSpPr>
          <p:cNvPr id="3" name="Text 1"/>
          <p:cNvSpPr/>
          <p:nvPr/>
        </p:nvSpPr>
        <p:spPr>
          <a:xfrm>
            <a:off x="1010841" y="660678"/>
            <a:ext cx="1816894" cy="276582"/>
          </a:xfrm>
          <a:prstGeom prst="rect">
            <a:avLst/>
          </a:prstGeom>
          <a:noFill/>
          <a:ln/>
        </p:spPr>
        <p:txBody>
          <a:bodyPr wrap="none" lIns="0" tIns="0" rIns="0" bIns="0" rtlCol="0" anchor="t"/>
          <a:lstStyle/>
          <a:p>
            <a:pPr marL="0" indent="0" algn="l">
              <a:lnSpc>
                <a:spcPts val="2150"/>
              </a:lnSpc>
              <a:buNone/>
            </a:pPr>
            <a:r>
              <a:rPr lang="en-US" sz="1350" dirty="0">
                <a:solidFill>
                  <a:srgbClr val="3A3630"/>
                </a:solidFill>
                <a:latin typeface="Source Sans 3" pitchFamily="34" charset="0"/>
                <a:ea typeface="Source Sans 3" pitchFamily="34" charset="-122"/>
                <a:cs typeface="Source Sans 3" pitchFamily="34" charset="-120"/>
              </a:rPr>
              <a:t>TOOLS &amp; TECHNOLOGIES</a:t>
            </a:r>
            <a:endParaRPr lang="en-US" sz="1350" dirty="0"/>
          </a:p>
        </p:txBody>
      </p:sp>
      <p:sp>
        <p:nvSpPr>
          <p:cNvPr id="4" name="Text 2"/>
          <p:cNvSpPr/>
          <p:nvPr/>
        </p:nvSpPr>
        <p:spPr>
          <a:xfrm>
            <a:off x="881182" y="1088469"/>
            <a:ext cx="10644783" cy="635794"/>
          </a:xfrm>
          <a:prstGeom prst="rect">
            <a:avLst/>
          </a:prstGeom>
          <a:noFill/>
          <a:ln/>
        </p:spPr>
        <p:txBody>
          <a:bodyPr wrap="none" lIns="0" tIns="0" rIns="0" bIns="0" rtlCol="0" anchor="t"/>
          <a:lstStyle/>
          <a:p>
            <a:pPr marL="0" indent="0" algn="l">
              <a:lnSpc>
                <a:spcPts val="5000"/>
              </a:lnSpc>
              <a:buNone/>
            </a:pPr>
            <a:r>
              <a:rPr lang="en-US" sz="4000" dirty="0">
                <a:solidFill>
                  <a:srgbClr val="38512F"/>
                </a:solidFill>
                <a:latin typeface="Lora" pitchFamily="34" charset="0"/>
                <a:ea typeface="Lora" pitchFamily="34" charset="-122"/>
                <a:cs typeface="Lora" pitchFamily="34" charset="-120"/>
              </a:rPr>
              <a:t>Essential Software and System Requirements</a:t>
            </a:r>
            <a:endParaRPr lang="en-US" sz="4000" dirty="0"/>
          </a:p>
        </p:txBody>
      </p:sp>
      <p:sp>
        <p:nvSpPr>
          <p:cNvPr id="5" name="Text 3"/>
          <p:cNvSpPr/>
          <p:nvPr/>
        </p:nvSpPr>
        <p:spPr>
          <a:xfrm>
            <a:off x="881182" y="2264569"/>
            <a:ext cx="3051691" cy="381357"/>
          </a:xfrm>
          <a:prstGeom prst="rect">
            <a:avLst/>
          </a:prstGeom>
          <a:noFill/>
          <a:ln/>
        </p:spPr>
        <p:txBody>
          <a:bodyPr wrap="none" lIns="0" tIns="0" rIns="0" bIns="0" rtlCol="0" anchor="t"/>
          <a:lstStyle/>
          <a:p>
            <a:pPr marL="0" indent="0" algn="l">
              <a:lnSpc>
                <a:spcPts val="3000"/>
              </a:lnSpc>
              <a:buNone/>
            </a:pPr>
            <a:r>
              <a:rPr lang="en-US" sz="2400" dirty="0">
                <a:solidFill>
                  <a:srgbClr val="38512F"/>
                </a:solidFill>
                <a:latin typeface="Lora" pitchFamily="34" charset="0"/>
                <a:ea typeface="Lora" pitchFamily="34" charset="-122"/>
                <a:cs typeface="Lora" pitchFamily="34" charset="-120"/>
              </a:rPr>
              <a:t>Software Tools:</a:t>
            </a:r>
            <a:endParaRPr lang="en-US" sz="2400" dirty="0"/>
          </a:p>
        </p:txBody>
      </p:sp>
      <p:sp>
        <p:nvSpPr>
          <p:cNvPr id="6" name="Text 4"/>
          <p:cNvSpPr/>
          <p:nvPr/>
        </p:nvSpPr>
        <p:spPr>
          <a:xfrm>
            <a:off x="881182" y="2862024"/>
            <a:ext cx="6170414" cy="691753"/>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Python 3:</a:t>
            </a:r>
            <a:r>
              <a:rPr lang="en-US" sz="1700" dirty="0">
                <a:solidFill>
                  <a:srgbClr val="3A3630"/>
                </a:solidFill>
                <a:latin typeface="Source Sans 3" pitchFamily="34" charset="0"/>
                <a:ea typeface="Source Sans 3" pitchFamily="34" charset="-122"/>
                <a:cs typeface="Source Sans 3" pitchFamily="34" charset="-120"/>
              </a:rPr>
              <a:t> The primary programming language for development and simulation.</a:t>
            </a:r>
            <a:endParaRPr lang="en-US" sz="1700" dirty="0"/>
          </a:p>
        </p:txBody>
      </p:sp>
      <p:sp>
        <p:nvSpPr>
          <p:cNvPr id="7" name="Text 5"/>
          <p:cNvSpPr/>
          <p:nvPr/>
        </p:nvSpPr>
        <p:spPr>
          <a:xfrm>
            <a:off x="881182" y="3629382"/>
            <a:ext cx="6170414" cy="691753"/>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Scikit-learn:</a:t>
            </a:r>
            <a:r>
              <a:rPr lang="en-US" sz="1700" dirty="0">
                <a:solidFill>
                  <a:srgbClr val="3A3630"/>
                </a:solidFill>
                <a:latin typeface="Source Sans 3" pitchFamily="34" charset="0"/>
                <a:ea typeface="Source Sans 3" pitchFamily="34" charset="-122"/>
                <a:cs typeface="Source Sans 3" pitchFamily="34" charset="-120"/>
              </a:rPr>
              <a:t> For implementing various machine learning algorithms.</a:t>
            </a:r>
            <a:endParaRPr lang="en-US" sz="1700" dirty="0"/>
          </a:p>
        </p:txBody>
      </p:sp>
      <p:sp>
        <p:nvSpPr>
          <p:cNvPr id="8" name="Text 6"/>
          <p:cNvSpPr/>
          <p:nvPr/>
        </p:nvSpPr>
        <p:spPr>
          <a:xfrm>
            <a:off x="881182" y="4396740"/>
            <a:ext cx="6170414" cy="691753"/>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NumPy, Pandas:</a:t>
            </a:r>
            <a:r>
              <a:rPr lang="en-US" sz="1700" dirty="0">
                <a:solidFill>
                  <a:srgbClr val="3A3630"/>
                </a:solidFill>
                <a:latin typeface="Source Sans 3" pitchFamily="34" charset="0"/>
                <a:ea typeface="Source Sans 3" pitchFamily="34" charset="-122"/>
                <a:cs typeface="Source Sans 3" pitchFamily="34" charset="-120"/>
              </a:rPr>
              <a:t> Essential libraries for numerical operations and data manipulation.</a:t>
            </a:r>
            <a:endParaRPr lang="en-US" sz="1700" dirty="0"/>
          </a:p>
        </p:txBody>
      </p:sp>
      <p:sp>
        <p:nvSpPr>
          <p:cNvPr id="9" name="Text 7"/>
          <p:cNvSpPr/>
          <p:nvPr/>
        </p:nvSpPr>
        <p:spPr>
          <a:xfrm>
            <a:off x="881182" y="5164098"/>
            <a:ext cx="6170414" cy="691753"/>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Matplotlib:</a:t>
            </a:r>
            <a:r>
              <a:rPr lang="en-US" sz="1700" dirty="0">
                <a:solidFill>
                  <a:srgbClr val="3A3630"/>
                </a:solidFill>
                <a:latin typeface="Source Sans 3" pitchFamily="34" charset="0"/>
                <a:ea typeface="Source Sans 3" pitchFamily="34" charset="-122"/>
                <a:cs typeface="Source Sans 3" pitchFamily="34" charset="-120"/>
              </a:rPr>
              <a:t> For data visualization and graphical representation of results.</a:t>
            </a:r>
            <a:endParaRPr lang="en-US" sz="1700" dirty="0"/>
          </a:p>
        </p:txBody>
      </p:sp>
      <p:sp>
        <p:nvSpPr>
          <p:cNvPr id="10" name="Text 8"/>
          <p:cNvSpPr/>
          <p:nvPr/>
        </p:nvSpPr>
        <p:spPr>
          <a:xfrm>
            <a:off x="881182" y="5931456"/>
            <a:ext cx="6170414" cy="691753"/>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Optional: NS-3:</a:t>
            </a:r>
            <a:r>
              <a:rPr lang="en-US" sz="1700" dirty="0">
                <a:solidFill>
                  <a:srgbClr val="3A3630"/>
                </a:solidFill>
                <a:latin typeface="Source Sans 3" pitchFamily="34" charset="0"/>
                <a:ea typeface="Source Sans 3" pitchFamily="34" charset="-122"/>
                <a:cs typeface="Source Sans 3" pitchFamily="34" charset="-120"/>
              </a:rPr>
              <a:t> For advanced traffic trace validation and detailed network simulation.</a:t>
            </a:r>
            <a:endParaRPr lang="en-US" sz="1700" dirty="0"/>
          </a:p>
        </p:txBody>
      </p:sp>
      <p:sp>
        <p:nvSpPr>
          <p:cNvPr id="11" name="Text 9"/>
          <p:cNvSpPr/>
          <p:nvPr/>
        </p:nvSpPr>
        <p:spPr>
          <a:xfrm>
            <a:off x="7586424" y="2264569"/>
            <a:ext cx="3158133" cy="381357"/>
          </a:xfrm>
          <a:prstGeom prst="rect">
            <a:avLst/>
          </a:prstGeom>
          <a:noFill/>
          <a:ln/>
        </p:spPr>
        <p:txBody>
          <a:bodyPr wrap="none" lIns="0" tIns="0" rIns="0" bIns="0" rtlCol="0" anchor="t"/>
          <a:lstStyle/>
          <a:p>
            <a:pPr marL="0" indent="0" algn="l">
              <a:lnSpc>
                <a:spcPts val="3000"/>
              </a:lnSpc>
              <a:buNone/>
            </a:pPr>
            <a:r>
              <a:rPr lang="en-US" sz="2400" dirty="0">
                <a:solidFill>
                  <a:srgbClr val="38512F"/>
                </a:solidFill>
                <a:latin typeface="Lora" pitchFamily="34" charset="0"/>
                <a:ea typeface="Lora" pitchFamily="34" charset="-122"/>
                <a:cs typeface="Lora" pitchFamily="34" charset="-120"/>
              </a:rPr>
              <a:t>System Requirements:</a:t>
            </a:r>
            <a:endParaRPr lang="en-US" sz="2400" dirty="0"/>
          </a:p>
        </p:txBody>
      </p:sp>
      <p:sp>
        <p:nvSpPr>
          <p:cNvPr id="12" name="Text 10"/>
          <p:cNvSpPr/>
          <p:nvPr/>
        </p:nvSpPr>
        <p:spPr>
          <a:xfrm>
            <a:off x="7586424" y="2862024"/>
            <a:ext cx="6170414" cy="691753"/>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Standard Laptop/PC:</a:t>
            </a:r>
            <a:r>
              <a:rPr lang="en-US" sz="1700" dirty="0">
                <a:solidFill>
                  <a:srgbClr val="3A3630"/>
                </a:solidFill>
                <a:latin typeface="Source Sans 3" pitchFamily="34" charset="0"/>
                <a:ea typeface="Source Sans 3" pitchFamily="34" charset="-122"/>
                <a:cs typeface="Source Sans 3" pitchFamily="34" charset="-120"/>
              </a:rPr>
              <a:t> Our framework is designed to run efficiently on conventional computing hardware.</a:t>
            </a:r>
            <a:endParaRPr lang="en-US" sz="1700" dirty="0"/>
          </a:p>
        </p:txBody>
      </p:sp>
      <p:sp>
        <p:nvSpPr>
          <p:cNvPr id="13" name="Text 11"/>
          <p:cNvSpPr/>
          <p:nvPr/>
        </p:nvSpPr>
        <p:spPr>
          <a:xfrm>
            <a:off x="7586424" y="3629382"/>
            <a:ext cx="6170414" cy="1037630"/>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A3630"/>
                </a:solidFill>
                <a:latin typeface="Source Sans 3" pitchFamily="34" charset="0"/>
                <a:ea typeface="Source Sans 3" pitchFamily="34" charset="-122"/>
                <a:cs typeface="Source Sans 3" pitchFamily="34" charset="-120"/>
              </a:rPr>
              <a:t>No Hardware Dependency:</a:t>
            </a:r>
            <a:r>
              <a:rPr lang="en-US" sz="1700" dirty="0">
                <a:solidFill>
                  <a:srgbClr val="3A3630"/>
                </a:solidFill>
                <a:latin typeface="Source Sans 3" pitchFamily="34" charset="0"/>
                <a:ea typeface="Source Sans 3" pitchFamily="34" charset="-122"/>
                <a:cs typeface="Source Sans 3" pitchFamily="34" charset="-120"/>
              </a:rPr>
              <a:t> The project does not require specialized or high-end hardware, making it accessible for development and testing.</a:t>
            </a:r>
            <a:endParaRPr lang="en-US" sz="1700" dirty="0"/>
          </a:p>
        </p:txBody>
      </p:sp>
      <p:sp>
        <p:nvSpPr>
          <p:cNvPr id="14" name="Text 12"/>
          <p:cNvSpPr/>
          <p:nvPr/>
        </p:nvSpPr>
        <p:spPr>
          <a:xfrm>
            <a:off x="881182" y="6941939"/>
            <a:ext cx="12868037" cy="691753"/>
          </a:xfrm>
          <a:prstGeom prst="rect">
            <a:avLst/>
          </a:prstGeom>
          <a:noFill/>
          <a:ln/>
        </p:spPr>
        <p:txBody>
          <a:bodyPr wrap="square" lIns="0" tIns="0" rIns="0" bIns="0" rtlCol="0" anchor="t"/>
          <a:lstStyle/>
          <a:p>
            <a:pPr marL="0" indent="0" algn="l">
              <a:lnSpc>
                <a:spcPts val="2700"/>
              </a:lnSpc>
              <a:buNone/>
            </a:pPr>
            <a:r>
              <a:rPr lang="en-US" sz="1700" dirty="0">
                <a:solidFill>
                  <a:srgbClr val="3A3630"/>
                </a:solidFill>
                <a:latin typeface="Source Sans 3" pitchFamily="34" charset="0"/>
                <a:ea typeface="Source Sans 3" pitchFamily="34" charset="-122"/>
                <a:cs typeface="Source Sans 3" pitchFamily="34" charset="-120"/>
              </a:rPr>
              <a:t>These selected tools and technologies provide a robust and flexible environment for developing, simulating, and evaluating our federated machine learning-driven anomaly-aware QoS routing framework.</a:t>
            </a:r>
            <a:endParaRPr lang="en-US" sz="1700" dirty="0"/>
          </a:p>
        </p:txBody>
      </p:sp>
      <p:pic>
        <p:nvPicPr>
          <p:cNvPr id="16" name="Picture 15">
            <a:extLst>
              <a:ext uri="{FF2B5EF4-FFF2-40B4-BE49-F238E27FC236}">
                <a16:creationId xmlns:a16="http://schemas.microsoft.com/office/drawing/2014/main" id="{EB8D5673-10F1-5028-F58E-D08AE7BF524E}"/>
              </a:ext>
            </a:extLst>
          </p:cNvPr>
          <p:cNvPicPr>
            <a:picLocks noChangeAspect="1"/>
          </p:cNvPicPr>
          <p:nvPr/>
        </p:nvPicPr>
        <p:blipFill>
          <a:blip r:embed="rId3"/>
          <a:stretch>
            <a:fillRect/>
          </a:stretch>
        </p:blipFill>
        <p:spPr>
          <a:xfrm>
            <a:off x="12829924" y="7645415"/>
            <a:ext cx="1800476" cy="4763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1181</Words>
  <Application>Microsoft Office PowerPoint</Application>
  <PresentationFormat>Custom</PresentationFormat>
  <Paragraphs>128</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Times New Roman</vt:lpstr>
      <vt:lpstr>Sitka Small Semibold</vt:lpstr>
      <vt:lpstr>Source Sans 3</vt:lpstr>
      <vt:lpstr>Lora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Sarvesh _123</cp:lastModifiedBy>
  <cp:revision>5</cp:revision>
  <dcterms:created xsi:type="dcterms:W3CDTF">2026-01-21T01:15:39Z</dcterms:created>
  <dcterms:modified xsi:type="dcterms:W3CDTF">2026-01-21T06:15:30Z</dcterms:modified>
</cp:coreProperties>
</file>